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3"/>
  </p:notesMasterIdLst>
  <p:handoutMasterIdLst>
    <p:handoutMasterId r:id="rId4"/>
  </p:handoutMasterIdLst>
  <p:sldIdLst>
    <p:sldId id="256" r:id="rId2"/>
  </p:sldIdLst>
  <p:sldSz cx="18288000" cy="30600650"/>
  <p:notesSz cx="16424275" cy="487791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638"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434" autoAdjust="0"/>
  </p:normalViewPr>
  <p:slideViewPr>
    <p:cSldViewPr>
      <p:cViewPr>
        <p:scale>
          <a:sx n="50" d="100"/>
          <a:sy n="50" d="100"/>
        </p:scale>
        <p:origin x="1421" y="-6278"/>
      </p:cViewPr>
      <p:guideLst>
        <p:guide orient="horz" pos="9638"/>
        <p:guide pos="576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9306596" y="3"/>
            <a:ext cx="7117681" cy="2442291"/>
          </a:xfrm>
          <a:prstGeom prst="rect">
            <a:avLst/>
          </a:prstGeom>
        </p:spPr>
        <p:txBody>
          <a:bodyPr vert="horz" lIns="310473" tIns="155238" rIns="310473" bIns="155238" rtlCol="1"/>
          <a:lstStyle>
            <a:lvl1pPr algn="r">
              <a:defRPr sz="4200"/>
            </a:lvl1pPr>
          </a:lstStyle>
          <a:p>
            <a:endParaRPr lang="ar-EG"/>
          </a:p>
        </p:txBody>
      </p:sp>
      <p:sp>
        <p:nvSpPr>
          <p:cNvPr id="3" name="Date Placeholder 2"/>
          <p:cNvSpPr>
            <a:spLocks noGrp="1"/>
          </p:cNvSpPr>
          <p:nvPr>
            <p:ph type="dt" sz="quarter" idx="1"/>
          </p:nvPr>
        </p:nvSpPr>
        <p:spPr>
          <a:xfrm>
            <a:off x="3728" y="3"/>
            <a:ext cx="7117681" cy="2442291"/>
          </a:xfrm>
          <a:prstGeom prst="rect">
            <a:avLst/>
          </a:prstGeom>
        </p:spPr>
        <p:txBody>
          <a:bodyPr vert="horz" lIns="310473" tIns="155238" rIns="310473" bIns="155238" rtlCol="1"/>
          <a:lstStyle>
            <a:lvl1pPr algn="l">
              <a:defRPr sz="4200"/>
            </a:lvl1pPr>
          </a:lstStyle>
          <a:p>
            <a:fld id="{0CCF43B1-6A3E-419B-A6EB-37961CD8A8DB}" type="datetimeFigureOut">
              <a:rPr lang="ar-EG" smtClean="0"/>
              <a:t>29/12/1447</a:t>
            </a:fld>
            <a:endParaRPr lang="ar-EG"/>
          </a:p>
        </p:txBody>
      </p:sp>
      <p:sp>
        <p:nvSpPr>
          <p:cNvPr id="4" name="Footer Placeholder 3"/>
          <p:cNvSpPr>
            <a:spLocks noGrp="1"/>
          </p:cNvSpPr>
          <p:nvPr>
            <p:ph type="ftr" sz="quarter" idx="2"/>
          </p:nvPr>
        </p:nvSpPr>
        <p:spPr>
          <a:xfrm>
            <a:off x="9306596" y="46328493"/>
            <a:ext cx="7117681" cy="2442291"/>
          </a:xfrm>
          <a:prstGeom prst="rect">
            <a:avLst/>
          </a:prstGeom>
        </p:spPr>
        <p:txBody>
          <a:bodyPr vert="horz" lIns="310473" tIns="155238" rIns="310473" bIns="155238" rtlCol="1" anchor="b"/>
          <a:lstStyle>
            <a:lvl1pPr algn="r">
              <a:defRPr sz="4200"/>
            </a:lvl1pPr>
          </a:lstStyle>
          <a:p>
            <a:endParaRPr lang="ar-EG"/>
          </a:p>
        </p:txBody>
      </p:sp>
      <p:sp>
        <p:nvSpPr>
          <p:cNvPr id="5" name="Slide Number Placeholder 4"/>
          <p:cNvSpPr>
            <a:spLocks noGrp="1"/>
          </p:cNvSpPr>
          <p:nvPr>
            <p:ph type="sldNum" sz="quarter" idx="3"/>
          </p:nvPr>
        </p:nvSpPr>
        <p:spPr>
          <a:xfrm>
            <a:off x="3728" y="46328493"/>
            <a:ext cx="7117681" cy="2442291"/>
          </a:xfrm>
          <a:prstGeom prst="rect">
            <a:avLst/>
          </a:prstGeom>
        </p:spPr>
        <p:txBody>
          <a:bodyPr vert="horz" lIns="310473" tIns="155238" rIns="310473" bIns="155238" rtlCol="1" anchor="b"/>
          <a:lstStyle>
            <a:lvl1pPr algn="l">
              <a:defRPr sz="4200"/>
            </a:lvl1pPr>
          </a:lstStyle>
          <a:p>
            <a:fld id="{73473FC2-D021-42AE-B765-45D56CD30534}" type="slidenum">
              <a:rPr lang="ar-EG" smtClean="0"/>
              <a:t>‹#›</a:t>
            </a:fld>
            <a:endParaRPr lang="ar-EG"/>
          </a:p>
        </p:txBody>
      </p:sp>
    </p:spTree>
    <p:extLst>
      <p:ext uri="{BB962C8B-B14F-4D97-AF65-F5344CB8AC3E}">
        <p14:creationId xmlns:p14="http://schemas.microsoft.com/office/powerpoint/2010/main" val="121919476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7117681" cy="2442291"/>
          </a:xfrm>
          <a:prstGeom prst="rect">
            <a:avLst/>
          </a:prstGeom>
        </p:spPr>
        <p:txBody>
          <a:bodyPr vert="horz" lIns="310473" tIns="155238" rIns="310473" bIns="155238" rtlCol="0"/>
          <a:lstStyle>
            <a:lvl1pPr algn="l">
              <a:defRPr sz="4200"/>
            </a:lvl1pPr>
          </a:lstStyle>
          <a:p>
            <a:endParaRPr lang="en-US"/>
          </a:p>
        </p:txBody>
      </p:sp>
      <p:sp>
        <p:nvSpPr>
          <p:cNvPr id="3" name="Date Placeholder 2"/>
          <p:cNvSpPr>
            <a:spLocks noGrp="1"/>
          </p:cNvSpPr>
          <p:nvPr>
            <p:ph type="dt" idx="1"/>
          </p:nvPr>
        </p:nvSpPr>
        <p:spPr>
          <a:xfrm>
            <a:off x="9302875" y="3"/>
            <a:ext cx="7117681" cy="2442291"/>
          </a:xfrm>
          <a:prstGeom prst="rect">
            <a:avLst/>
          </a:prstGeom>
        </p:spPr>
        <p:txBody>
          <a:bodyPr vert="horz" lIns="310473" tIns="155238" rIns="310473" bIns="155238" rtlCol="0"/>
          <a:lstStyle>
            <a:lvl1pPr algn="r">
              <a:defRPr sz="4200"/>
            </a:lvl1pPr>
          </a:lstStyle>
          <a:p>
            <a:fld id="{8FE7AE7C-CDCF-4BF5-87F1-E8066BBA7A3F}" type="datetimeFigureOut">
              <a:rPr lang="en-US" smtClean="0"/>
              <a:t>6/14/2026</a:t>
            </a:fld>
            <a:endParaRPr lang="en-US"/>
          </a:p>
        </p:txBody>
      </p:sp>
      <p:sp>
        <p:nvSpPr>
          <p:cNvPr id="4" name="Slide Image Placeholder 3"/>
          <p:cNvSpPr>
            <a:spLocks noGrp="1" noRot="1" noChangeAspect="1"/>
          </p:cNvSpPr>
          <p:nvPr>
            <p:ph type="sldImg" idx="2"/>
          </p:nvPr>
        </p:nvSpPr>
        <p:spPr>
          <a:xfrm>
            <a:off x="3292475" y="6099175"/>
            <a:ext cx="9839325" cy="16467138"/>
          </a:xfrm>
          <a:prstGeom prst="rect">
            <a:avLst/>
          </a:prstGeom>
          <a:noFill/>
          <a:ln w="12700">
            <a:solidFill>
              <a:prstClr val="black"/>
            </a:solidFill>
          </a:ln>
        </p:spPr>
        <p:txBody>
          <a:bodyPr vert="horz" lIns="310473" tIns="155238" rIns="310473" bIns="155238" rtlCol="0" anchor="ctr"/>
          <a:lstStyle/>
          <a:p>
            <a:endParaRPr lang="en-US"/>
          </a:p>
        </p:txBody>
      </p:sp>
      <p:sp>
        <p:nvSpPr>
          <p:cNvPr id="5" name="Notes Placeholder 4"/>
          <p:cNvSpPr>
            <a:spLocks noGrp="1"/>
          </p:cNvSpPr>
          <p:nvPr>
            <p:ph type="body" sz="quarter" idx="3"/>
          </p:nvPr>
        </p:nvSpPr>
        <p:spPr>
          <a:xfrm>
            <a:off x="1641688" y="23472665"/>
            <a:ext cx="13140909" cy="19213235"/>
          </a:xfrm>
          <a:prstGeom prst="rect">
            <a:avLst/>
          </a:prstGeom>
        </p:spPr>
        <p:txBody>
          <a:bodyPr vert="horz" lIns="310473" tIns="155238" rIns="310473" bIns="1552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46336828"/>
            <a:ext cx="7117681" cy="2442287"/>
          </a:xfrm>
          <a:prstGeom prst="rect">
            <a:avLst/>
          </a:prstGeom>
        </p:spPr>
        <p:txBody>
          <a:bodyPr vert="horz" lIns="310473" tIns="155238" rIns="310473" bIns="155238" rtlCol="0" anchor="b"/>
          <a:lstStyle>
            <a:lvl1pPr algn="l">
              <a:defRPr sz="4200"/>
            </a:lvl1pPr>
          </a:lstStyle>
          <a:p>
            <a:endParaRPr lang="en-US"/>
          </a:p>
        </p:txBody>
      </p:sp>
      <p:sp>
        <p:nvSpPr>
          <p:cNvPr id="7" name="Slide Number Placeholder 6"/>
          <p:cNvSpPr>
            <a:spLocks noGrp="1"/>
          </p:cNvSpPr>
          <p:nvPr>
            <p:ph type="sldNum" sz="quarter" idx="5"/>
          </p:nvPr>
        </p:nvSpPr>
        <p:spPr>
          <a:xfrm>
            <a:off x="9302875" y="46336828"/>
            <a:ext cx="7117681" cy="2442287"/>
          </a:xfrm>
          <a:prstGeom prst="rect">
            <a:avLst/>
          </a:prstGeom>
        </p:spPr>
        <p:txBody>
          <a:bodyPr vert="horz" lIns="310473" tIns="155238" rIns="310473" bIns="155238" rtlCol="0" anchor="b"/>
          <a:lstStyle>
            <a:lvl1pPr algn="r">
              <a:defRPr sz="4200"/>
            </a:lvl1pPr>
          </a:lstStyle>
          <a:p>
            <a:fld id="{5672CBB0-53CD-4371-86A0-8EB01001EC5A}" type="slidenum">
              <a:rPr lang="en-US" smtClean="0"/>
              <a:t>‹#›</a:t>
            </a:fld>
            <a:endParaRPr lang="en-US"/>
          </a:p>
        </p:txBody>
      </p:sp>
    </p:spTree>
    <p:extLst>
      <p:ext uri="{BB962C8B-B14F-4D97-AF65-F5344CB8AC3E}">
        <p14:creationId xmlns:p14="http://schemas.microsoft.com/office/powerpoint/2010/main" val="319692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92475" y="6099175"/>
            <a:ext cx="9839325" cy="16467138"/>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5008025"/>
            <a:ext cx="15544800" cy="1065356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2286000" y="16072427"/>
            <a:ext cx="13716000" cy="7388071"/>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06976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4219177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6" y="7628921"/>
            <a:ext cx="15773400" cy="12729018"/>
          </a:xfrm>
        </p:spPr>
        <p:txBody>
          <a:bodyPr anchor="b"/>
          <a:lstStyle>
            <a:lvl1pPr>
              <a:defRPr sz="12000"/>
            </a:lvl1pPr>
          </a:lstStyle>
          <a:p>
            <a:r>
              <a:rPr lang="en-US"/>
              <a:t>Click to edit Master title style</a:t>
            </a:r>
            <a:endParaRPr lang="en-US" dirty="0"/>
          </a:p>
        </p:txBody>
      </p:sp>
      <p:sp>
        <p:nvSpPr>
          <p:cNvPr id="3" name="Text Placeholder 2"/>
          <p:cNvSpPr>
            <a:spLocks noGrp="1"/>
          </p:cNvSpPr>
          <p:nvPr>
            <p:ph type="body" idx="1"/>
          </p:nvPr>
        </p:nvSpPr>
        <p:spPr>
          <a:xfrm>
            <a:off x="1247776" y="20478361"/>
            <a:ext cx="15773400" cy="6693890"/>
          </a:xfrm>
        </p:spPr>
        <p:txBody>
          <a:bodyPr/>
          <a:lstStyle>
            <a:lvl1pPr marL="0" indent="0">
              <a:buNone/>
              <a:defRPr sz="4800">
                <a:solidFill>
                  <a:schemeClr val="tx1"/>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628686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8146007"/>
            <a:ext cx="7772400" cy="19415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8146007"/>
            <a:ext cx="7772400" cy="19415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334055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1629208"/>
            <a:ext cx="15773400" cy="591471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4" y="7501412"/>
            <a:ext cx="7736680" cy="3676326"/>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259684" y="11177737"/>
            <a:ext cx="7736680" cy="1644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1" y="7501412"/>
            <a:ext cx="7774782" cy="3676326"/>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58301" y="11177737"/>
            <a:ext cx="7774782" cy="1644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427379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27608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232021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2040043"/>
            <a:ext cx="5898356" cy="7140152"/>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7774782" y="4405934"/>
            <a:ext cx="9258300" cy="21746295"/>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2" y="9180195"/>
            <a:ext cx="5898356" cy="17007447"/>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56935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2040043"/>
            <a:ext cx="5898356" cy="7140152"/>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4405934"/>
            <a:ext cx="9258300" cy="21746295"/>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259682" y="9180195"/>
            <a:ext cx="5898356" cy="17007447"/>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985929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689469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1" y="1629201"/>
            <a:ext cx="3943350" cy="259326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1" y="1629201"/>
            <a:ext cx="11601450" cy="25932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414023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2" name="Rectangle 11"/>
          <p:cNvSpPr/>
          <p:nvPr userDrawn="1"/>
        </p:nvSpPr>
        <p:spPr>
          <a:xfrm>
            <a:off x="17780000" y="0"/>
            <a:ext cx="508000" cy="3060065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5" name="Rectangle 14"/>
          <p:cNvSpPr/>
          <p:nvPr userDrawn="1"/>
        </p:nvSpPr>
        <p:spPr>
          <a:xfrm>
            <a:off x="0" y="0"/>
            <a:ext cx="508000" cy="3060065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6" name="Rectangle 15"/>
          <p:cNvSpPr/>
          <p:nvPr userDrawn="1"/>
        </p:nvSpPr>
        <p:spPr>
          <a:xfrm>
            <a:off x="0" y="0"/>
            <a:ext cx="18288000" cy="357007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7" name="Rectangle 16"/>
          <p:cNvSpPr/>
          <p:nvPr userDrawn="1"/>
        </p:nvSpPr>
        <p:spPr>
          <a:xfrm>
            <a:off x="0" y="27030574"/>
            <a:ext cx="18288000" cy="35700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9" name="Instructions"/>
          <p:cNvSpPr/>
          <p:nvPr userDrawn="1"/>
        </p:nvSpPr>
        <p:spPr>
          <a:xfrm>
            <a:off x="-9144000" y="0"/>
            <a:ext cx="8534400" cy="306006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7503" tIns="127503" rIns="127503" bIns="127503"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1339"/>
              </a:spcAft>
            </a:pPr>
            <a:r>
              <a:rPr lang="en-US" sz="5579" dirty="0">
                <a:solidFill>
                  <a:srgbClr val="7F7F7F"/>
                </a:solidFill>
                <a:latin typeface="Calibri" panose="020F0502020204030204" pitchFamily="34" charset="0"/>
                <a:cs typeface="Calibri" panose="020F0502020204030204" pitchFamily="34" charset="0"/>
              </a:rPr>
              <a:t>Poster Print Size:</a:t>
            </a:r>
            <a:endParaRPr sz="5579" dirty="0">
              <a:solidFill>
                <a:srgbClr val="7F7F7F"/>
              </a:solidFill>
              <a:latin typeface="Calibri" panose="020F0502020204030204" pitchFamily="34" charset="0"/>
              <a:cs typeface="Calibri" panose="020F0502020204030204" pitchFamily="34" charset="0"/>
            </a:endParaRPr>
          </a:p>
          <a:p>
            <a:pPr lvl="0">
              <a:spcBef>
                <a:spcPts val="0"/>
              </a:spcBef>
              <a:spcAft>
                <a:spcPts val="1339"/>
              </a:spcAft>
            </a:pPr>
            <a:r>
              <a:rPr lang="en-US" sz="3718" dirty="0">
                <a:solidFill>
                  <a:srgbClr val="7F7F7F"/>
                </a:solidFill>
                <a:latin typeface="Calibri" panose="020F0502020204030204" pitchFamily="34" charset="0"/>
                <a:cs typeface="Calibri" panose="020F0502020204030204" pitchFamily="34" charset="0"/>
              </a:rPr>
              <a:t>This poster template is 36” high by 18” wide and is printed at 200% for a 72” high by 36” wide poster. It can be used to print any poster with a 2:1 aspect ratio.</a:t>
            </a:r>
          </a:p>
          <a:p>
            <a:pPr lvl="0">
              <a:spcBef>
                <a:spcPts val="0"/>
              </a:spcBef>
              <a:spcAft>
                <a:spcPts val="1339"/>
              </a:spcAft>
            </a:pPr>
            <a:endParaRPr lang="en-US" sz="3718" dirty="0">
              <a:solidFill>
                <a:srgbClr val="7F7F7F"/>
              </a:solidFill>
              <a:latin typeface="Calibri" panose="020F0502020204030204" pitchFamily="34" charset="0"/>
              <a:cs typeface="Calibri" panose="020F0502020204030204" pitchFamily="34" charset="0"/>
            </a:endParaRPr>
          </a:p>
          <a:p>
            <a:pPr lvl="0">
              <a:spcBef>
                <a:spcPts val="0"/>
              </a:spcBef>
              <a:spcAft>
                <a:spcPts val="1339"/>
              </a:spcAft>
            </a:pPr>
            <a:endParaRPr lang="en-US" sz="3718" dirty="0">
              <a:solidFill>
                <a:srgbClr val="7F7F7F"/>
              </a:solidFill>
              <a:latin typeface="Calibri" panose="020F0502020204030204" pitchFamily="34" charset="0"/>
              <a:cs typeface="Calibri" panose="020F0502020204030204" pitchFamily="34" charset="0"/>
            </a:endParaRPr>
          </a:p>
          <a:p>
            <a:pPr lvl="0">
              <a:spcBef>
                <a:spcPts val="0"/>
              </a:spcBef>
              <a:spcAft>
                <a:spcPts val="1339"/>
              </a:spcAft>
            </a:pPr>
            <a:r>
              <a:rPr lang="en-US" sz="5579" dirty="0">
                <a:solidFill>
                  <a:srgbClr val="7F7F7F"/>
                </a:solidFill>
                <a:latin typeface="Calibri" panose="020F0502020204030204" pitchFamily="34" charset="0"/>
                <a:cs typeface="Calibri" panose="020F0502020204030204" pitchFamily="34" charset="0"/>
              </a:rPr>
              <a:t>Placeholders</a:t>
            </a:r>
            <a:r>
              <a:rPr sz="5579" dirty="0">
                <a:solidFill>
                  <a:srgbClr val="7F7F7F"/>
                </a:solidFill>
                <a:latin typeface="Calibri" panose="020F0502020204030204" pitchFamily="34" charset="0"/>
                <a:cs typeface="Calibri" panose="020F0502020204030204" pitchFamily="34" charset="0"/>
              </a:rPr>
              <a:t>:</a:t>
            </a:r>
          </a:p>
          <a:p>
            <a:pPr lvl="0">
              <a:spcBef>
                <a:spcPts val="0"/>
              </a:spcBef>
              <a:spcAft>
                <a:spcPts val="1339"/>
              </a:spcAft>
            </a:pPr>
            <a:r>
              <a:rPr sz="3718" dirty="0">
                <a:solidFill>
                  <a:srgbClr val="7F7F7F"/>
                </a:solidFill>
                <a:latin typeface="Calibri" panose="020F0502020204030204" pitchFamily="34" charset="0"/>
                <a:cs typeface="Calibri" panose="020F0502020204030204" pitchFamily="34" charset="0"/>
              </a:rPr>
              <a:t>The </a:t>
            </a:r>
            <a:r>
              <a:rPr lang="en-US" sz="3718" dirty="0">
                <a:solidFill>
                  <a:srgbClr val="7F7F7F"/>
                </a:solidFill>
                <a:latin typeface="Calibri" panose="020F0502020204030204" pitchFamily="34" charset="0"/>
                <a:cs typeface="Calibri" panose="020F0502020204030204" pitchFamily="34" charset="0"/>
              </a:rPr>
              <a:t>various elements included</a:t>
            </a:r>
            <a:r>
              <a:rPr sz="3718" dirty="0">
                <a:solidFill>
                  <a:srgbClr val="7F7F7F"/>
                </a:solidFill>
                <a:latin typeface="Calibri" panose="020F0502020204030204" pitchFamily="34" charset="0"/>
                <a:cs typeface="Calibri" panose="020F0502020204030204" pitchFamily="34" charset="0"/>
              </a:rPr>
              <a:t> in this </a:t>
            </a:r>
            <a:r>
              <a:rPr lang="en-US" sz="3718" dirty="0">
                <a:solidFill>
                  <a:srgbClr val="7F7F7F"/>
                </a:solidFill>
                <a:latin typeface="Calibri" panose="020F0502020204030204" pitchFamily="34" charset="0"/>
                <a:cs typeface="Calibri" panose="020F0502020204030204" pitchFamily="34" charset="0"/>
              </a:rPr>
              <a:t>poster are ones</a:t>
            </a:r>
            <a:r>
              <a:rPr lang="en-US" sz="3718" baseline="0" dirty="0">
                <a:solidFill>
                  <a:srgbClr val="7F7F7F"/>
                </a:solidFill>
                <a:latin typeface="Calibri" panose="020F0502020204030204" pitchFamily="34" charset="0"/>
                <a:cs typeface="Calibri" panose="020F0502020204030204" pitchFamily="34" charset="0"/>
              </a:rPr>
              <a:t> we often see in medical, research, and scientific posters.</a:t>
            </a:r>
            <a:r>
              <a:rPr sz="3718" dirty="0">
                <a:solidFill>
                  <a:srgbClr val="7F7F7F"/>
                </a:solidFill>
                <a:latin typeface="Calibri" panose="020F0502020204030204" pitchFamily="34" charset="0"/>
                <a:cs typeface="Calibri" panose="020F0502020204030204" pitchFamily="34" charset="0"/>
              </a:rPr>
              <a:t> </a:t>
            </a:r>
            <a:r>
              <a:rPr lang="en-US" sz="3718" dirty="0">
                <a:solidFill>
                  <a:srgbClr val="7F7F7F"/>
                </a:solidFill>
                <a:latin typeface="Calibri" panose="020F0502020204030204" pitchFamily="34" charset="0"/>
                <a:cs typeface="Calibri" panose="020F0502020204030204" pitchFamily="34" charset="0"/>
              </a:rPr>
              <a:t>Feel</a:t>
            </a:r>
            <a:r>
              <a:rPr lang="en-US" sz="3718" baseline="0" dirty="0">
                <a:solidFill>
                  <a:srgbClr val="7F7F7F"/>
                </a:solidFill>
                <a:latin typeface="Calibri" panose="020F0502020204030204"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339"/>
              </a:spcAft>
            </a:pPr>
            <a:endParaRPr lang="en-US" sz="3718" baseline="0" dirty="0">
              <a:solidFill>
                <a:srgbClr val="7F7F7F"/>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rgbClr val="7F7F7F"/>
              </a:solidFill>
              <a:latin typeface="Calibri" panose="020F0502020204030204" pitchFamily="34" charset="0"/>
              <a:cs typeface="Calibri" panose="020F0502020204030204" pitchFamily="34" charset="0"/>
            </a:endParaRPr>
          </a:p>
          <a:p>
            <a:pPr lvl="0">
              <a:spcBef>
                <a:spcPts val="0"/>
              </a:spcBef>
              <a:spcAft>
                <a:spcPts val="1339"/>
              </a:spcAft>
            </a:pPr>
            <a:r>
              <a:rPr lang="en-US" sz="5579" dirty="0">
                <a:solidFill>
                  <a:srgbClr val="7F7F7F"/>
                </a:solidFill>
                <a:latin typeface="Calibri" panose="020F0502020204030204" pitchFamily="34" charset="0"/>
                <a:cs typeface="Calibri" panose="020F0502020204030204" pitchFamily="34" charset="0"/>
              </a:rPr>
              <a:t>Image</a:t>
            </a:r>
            <a:r>
              <a:rPr lang="en-US" sz="5579" baseline="0" dirty="0">
                <a:solidFill>
                  <a:srgbClr val="7F7F7F"/>
                </a:solidFill>
                <a:latin typeface="Calibri" panose="020F0502020204030204" pitchFamily="34" charset="0"/>
                <a:cs typeface="Calibri" panose="020F0502020204030204" pitchFamily="34" charset="0"/>
              </a:rPr>
              <a:t> Quality</a:t>
            </a:r>
            <a:r>
              <a:rPr lang="en-US" sz="5579" dirty="0">
                <a:solidFill>
                  <a:srgbClr val="7F7F7F"/>
                </a:solidFill>
                <a:latin typeface="Calibri" panose="020F0502020204030204" pitchFamily="34" charset="0"/>
                <a:cs typeface="Calibri" panose="020F0502020204030204" pitchFamily="34" charset="0"/>
              </a:rPr>
              <a:t>:</a:t>
            </a:r>
          </a:p>
          <a:p>
            <a:pPr lvl="0">
              <a:spcBef>
                <a:spcPts val="0"/>
              </a:spcBef>
              <a:spcAft>
                <a:spcPts val="1339"/>
              </a:spcAft>
            </a:pPr>
            <a:r>
              <a:rPr lang="en-US" sz="3718" dirty="0">
                <a:solidFill>
                  <a:srgbClr val="7F7F7F"/>
                </a:solidFill>
                <a:latin typeface="Calibri" panose="020F0502020204030204" pitchFamily="34" charset="0"/>
                <a:cs typeface="Calibri" panose="020F0502020204030204" pitchFamily="34" charset="0"/>
              </a:rPr>
              <a:t>You can place digital photos or logo art in your poster file by selecting the </a:t>
            </a:r>
            <a:r>
              <a:rPr lang="en-US" sz="3718" b="1" dirty="0">
                <a:solidFill>
                  <a:srgbClr val="7F7F7F"/>
                </a:solidFill>
                <a:latin typeface="Calibri" panose="020F0502020204030204" pitchFamily="34" charset="0"/>
                <a:cs typeface="Calibri" panose="020F0502020204030204" pitchFamily="34" charset="0"/>
              </a:rPr>
              <a:t>Insert, Picture</a:t>
            </a:r>
            <a:r>
              <a:rPr lang="en-US" sz="3718" dirty="0">
                <a:solidFill>
                  <a:srgbClr val="7F7F7F"/>
                </a:solidFill>
                <a:latin typeface="Calibri" panose="020F0502020204030204" pitchFamily="34" charset="0"/>
                <a:cs typeface="Calibri" panose="020F0502020204030204" pitchFamily="34" charset="0"/>
              </a:rPr>
              <a:t> command, or by using standard copy &amp; paste. For best results, all graphic elements should be at least </a:t>
            </a:r>
            <a:r>
              <a:rPr lang="en-US" sz="3718" b="1" dirty="0">
                <a:solidFill>
                  <a:srgbClr val="7F7F7F"/>
                </a:solidFill>
                <a:latin typeface="Calibri" panose="020F0502020204030204" pitchFamily="34" charset="0"/>
                <a:cs typeface="Calibri" panose="020F0502020204030204" pitchFamily="34" charset="0"/>
              </a:rPr>
              <a:t>150-200 pixels per inch in their final printed size</a:t>
            </a:r>
            <a:r>
              <a:rPr lang="en-US" sz="3718" dirty="0">
                <a:solidFill>
                  <a:srgbClr val="7F7F7F"/>
                </a:solidFill>
                <a:latin typeface="Calibri" panose="020F0502020204030204" pitchFamily="34" charset="0"/>
                <a:cs typeface="Calibri" panose="020F0502020204030204" pitchFamily="34" charset="0"/>
              </a:rPr>
              <a:t>. For instance, a 1600 x 1200 pixel</a:t>
            </a:r>
            <a:r>
              <a:rPr lang="en-US" sz="3718" baseline="0" dirty="0">
                <a:solidFill>
                  <a:srgbClr val="7F7F7F"/>
                </a:solidFill>
                <a:latin typeface="Calibri" panose="020F0502020204030204" pitchFamily="34" charset="0"/>
                <a:cs typeface="Calibri" panose="020F0502020204030204" pitchFamily="34" charset="0"/>
              </a:rPr>
              <a:t> photo will usually look fine up to </a:t>
            </a:r>
            <a:r>
              <a:rPr lang="en-US" sz="3718" dirty="0">
                <a:solidFill>
                  <a:srgbClr val="7F7F7F"/>
                </a:solidFill>
                <a:latin typeface="Calibri" panose="020F0502020204030204" pitchFamily="34" charset="0"/>
                <a:cs typeface="Calibri" panose="020F0502020204030204" pitchFamily="34" charset="0"/>
              </a:rPr>
              <a:t>8“-10” wide on your printed poster.</a:t>
            </a:r>
          </a:p>
          <a:p>
            <a:pPr lvl="0">
              <a:spcBef>
                <a:spcPts val="0"/>
              </a:spcBef>
              <a:spcAft>
                <a:spcPts val="1339"/>
              </a:spcAft>
            </a:pPr>
            <a:r>
              <a:rPr lang="en-US" sz="3718" dirty="0">
                <a:solidFill>
                  <a:srgbClr val="7F7F7F"/>
                </a:solidFill>
                <a:latin typeface="Calibri" panose="020F0502020204030204"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339"/>
              </a:spcAft>
            </a:pPr>
            <a:r>
              <a:rPr lang="en-US" sz="3718" dirty="0">
                <a:solidFill>
                  <a:srgbClr val="7F7F7F"/>
                </a:solidFill>
                <a:latin typeface="Calibri" panose="020F0502020204030204"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339"/>
              </a:spcAft>
            </a:pPr>
            <a:r>
              <a:rPr lang="en-US" sz="743" dirty="0">
                <a:solidFill>
                  <a:srgbClr val="7F7F7F"/>
                </a:solidFill>
                <a:latin typeface="Calibri" panose="020F0502020204030204" pitchFamily="34" charset="0"/>
                <a:cs typeface="Calibri" panose="020F0502020204030204" pitchFamily="34" charset="0"/>
              </a:rPr>
              <a:t> </a:t>
            </a:r>
            <a:br>
              <a:rPr lang="en-US" sz="2975" dirty="0">
                <a:solidFill>
                  <a:srgbClr val="7F7F7F"/>
                </a:solidFill>
                <a:latin typeface="Calibri" panose="020F0502020204030204" pitchFamily="34" charset="0"/>
                <a:cs typeface="Calibri" panose="020F0502020204030204" pitchFamily="34" charset="0"/>
              </a:rPr>
            </a:br>
            <a:r>
              <a:rPr lang="en-US" sz="2975" dirty="0">
                <a:solidFill>
                  <a:srgbClr val="7F7F7F"/>
                </a:solidFill>
                <a:latin typeface="Calibri" panose="020F0502020204030204" pitchFamily="34" charset="0"/>
                <a:cs typeface="Calibri" panose="020F0502020204030204" pitchFamily="34" charset="0"/>
              </a:rPr>
              <a:t>[This sidebar area does not print.]</a:t>
            </a:r>
          </a:p>
        </p:txBody>
      </p:sp>
      <p:grpSp>
        <p:nvGrpSpPr>
          <p:cNvPr id="20" name="Group 19"/>
          <p:cNvGrpSpPr/>
          <p:nvPr userDrawn="1"/>
        </p:nvGrpSpPr>
        <p:grpSpPr>
          <a:xfrm>
            <a:off x="18897600" y="0"/>
            <a:ext cx="8534400" cy="3060065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1339"/>
                </a:spcAft>
              </a:pPr>
              <a:r>
                <a:rPr lang="en-US" sz="5579" dirty="0">
                  <a:solidFill>
                    <a:schemeClr val="bg1">
                      <a:lumMod val="50000"/>
                    </a:schemeClr>
                  </a:solidFill>
                  <a:latin typeface="Calibri" panose="020F0502020204030204" pitchFamily="34" charset="0"/>
                  <a:cs typeface="Calibri" panose="020F0502020204030204" pitchFamily="34" charset="0"/>
                </a:rPr>
                <a:t>Change</a:t>
              </a:r>
              <a:r>
                <a:rPr lang="en-US" sz="5579" baseline="0" dirty="0">
                  <a:solidFill>
                    <a:schemeClr val="bg1">
                      <a:lumMod val="50000"/>
                    </a:schemeClr>
                  </a:solidFill>
                  <a:latin typeface="Calibri" panose="020F0502020204030204" pitchFamily="34" charset="0"/>
                  <a:cs typeface="Calibri" panose="020F0502020204030204" pitchFamily="34" charset="0"/>
                </a:rPr>
                <a:t> Color Theme</a:t>
              </a:r>
              <a:r>
                <a:rPr lang="en-US" sz="5579" dirty="0">
                  <a:solidFill>
                    <a:schemeClr val="bg1">
                      <a:lumMod val="50000"/>
                    </a:schemeClr>
                  </a:solidFill>
                  <a:latin typeface="Calibri" panose="020F0502020204030204" pitchFamily="34" charset="0"/>
                  <a:cs typeface="Calibri" panose="020F0502020204030204" pitchFamily="34" charset="0"/>
                </a:rPr>
                <a:t>:</a:t>
              </a:r>
              <a:endParaRPr sz="5579"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r>
                <a:rPr lang="en-US" sz="3718" dirty="0">
                  <a:solidFill>
                    <a:schemeClr val="bg1">
                      <a:lumMod val="50000"/>
                    </a:schemeClr>
                  </a:solidFill>
                  <a:latin typeface="Calibri" panose="020F0502020204030204" pitchFamily="34" charset="0"/>
                  <a:cs typeface="Calibri" panose="020F0502020204030204" pitchFamily="34" charset="0"/>
                </a:rPr>
                <a:t>This template is designed to use the built-in color themes in</a:t>
              </a:r>
              <a:r>
                <a:rPr lang="en-US" sz="3718" baseline="0" dirty="0">
                  <a:solidFill>
                    <a:schemeClr val="bg1">
                      <a:lumMod val="50000"/>
                    </a:schemeClr>
                  </a:solidFill>
                  <a:latin typeface="Calibri" panose="020F0502020204030204" pitchFamily="34" charset="0"/>
                  <a:cs typeface="Calibri" panose="020F0502020204030204" pitchFamily="34" charset="0"/>
                </a:rPr>
                <a:t> the newer versions of PowerPoint.</a:t>
              </a:r>
            </a:p>
            <a:p>
              <a:pPr lvl="0">
                <a:spcBef>
                  <a:spcPts val="0"/>
                </a:spcBef>
                <a:spcAft>
                  <a:spcPts val="1339"/>
                </a:spcAft>
              </a:pPr>
              <a:r>
                <a:rPr lang="en-US" sz="3718" baseline="0" dirty="0">
                  <a:solidFill>
                    <a:schemeClr val="bg1">
                      <a:lumMod val="50000"/>
                    </a:schemeClr>
                  </a:solidFill>
                  <a:latin typeface="Calibri" panose="020F0502020204030204" pitchFamily="34" charset="0"/>
                  <a:cs typeface="Calibri" panose="020F0502020204030204" pitchFamily="34" charset="0"/>
                </a:rPr>
                <a:t>To change the color theme, select the </a:t>
              </a:r>
              <a:r>
                <a:rPr lang="en-US" sz="3718" b="1" baseline="0" dirty="0">
                  <a:solidFill>
                    <a:schemeClr val="bg1">
                      <a:lumMod val="50000"/>
                    </a:schemeClr>
                  </a:solidFill>
                  <a:latin typeface="Calibri" panose="020F0502020204030204" pitchFamily="34" charset="0"/>
                  <a:cs typeface="Calibri" panose="020F0502020204030204" pitchFamily="34" charset="0"/>
                </a:rPr>
                <a:t>Design</a:t>
              </a:r>
              <a:r>
                <a:rPr lang="en-US" sz="3718" baseline="0" dirty="0">
                  <a:solidFill>
                    <a:schemeClr val="bg1">
                      <a:lumMod val="50000"/>
                    </a:schemeClr>
                  </a:solidFill>
                  <a:latin typeface="Calibri" panose="020F0502020204030204" pitchFamily="34" charset="0"/>
                  <a:cs typeface="Calibri" panose="020F0502020204030204" pitchFamily="34" charset="0"/>
                </a:rPr>
                <a:t> tab, then select the </a:t>
              </a:r>
              <a:r>
                <a:rPr lang="en-US" sz="3718" b="1" baseline="0" dirty="0">
                  <a:solidFill>
                    <a:schemeClr val="bg1">
                      <a:lumMod val="50000"/>
                    </a:schemeClr>
                  </a:solidFill>
                  <a:latin typeface="Calibri" panose="020F0502020204030204" pitchFamily="34" charset="0"/>
                  <a:cs typeface="Calibri" panose="020F0502020204030204" pitchFamily="34" charset="0"/>
                </a:rPr>
                <a:t>Colors</a:t>
              </a:r>
              <a:r>
                <a:rPr lang="en-US" sz="3718" baseline="0" dirty="0">
                  <a:solidFill>
                    <a:schemeClr val="bg1">
                      <a:lumMod val="50000"/>
                    </a:schemeClr>
                  </a:solidFill>
                  <a:latin typeface="Calibri" panose="020F0502020204030204" pitchFamily="34" charset="0"/>
                  <a:cs typeface="Calibri" panose="020F0502020204030204" pitchFamily="34" charset="0"/>
                </a:rPr>
                <a:t> drop-down list.</a:t>
              </a: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r>
                <a:rPr lang="en-US" sz="3718" baseline="0" dirty="0">
                  <a:solidFill>
                    <a:schemeClr val="bg1">
                      <a:lumMod val="50000"/>
                    </a:schemeClr>
                  </a:solidFill>
                  <a:latin typeface="Calibri" panose="020F0502020204030204"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339"/>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1339"/>
                </a:spcAft>
              </a:pPr>
              <a:r>
                <a:rPr lang="en-US" sz="5579" dirty="0">
                  <a:solidFill>
                    <a:schemeClr val="bg1">
                      <a:lumMod val="50000"/>
                    </a:schemeClr>
                  </a:solidFill>
                  <a:latin typeface="Calibri" panose="020F0502020204030204" pitchFamily="34" charset="0"/>
                  <a:cs typeface="Calibri" panose="020F0502020204030204" pitchFamily="34" charset="0"/>
                </a:rPr>
                <a:t>Printing Your Poster:</a:t>
              </a:r>
            </a:p>
            <a:p>
              <a:pPr lvl="0">
                <a:spcBef>
                  <a:spcPts val="0"/>
                </a:spcBef>
                <a:spcAft>
                  <a:spcPts val="1339"/>
                </a:spcAft>
              </a:pPr>
              <a:r>
                <a:rPr lang="en-US" sz="3718" dirty="0">
                  <a:solidFill>
                    <a:schemeClr val="bg1">
                      <a:lumMod val="50000"/>
                    </a:schemeClr>
                  </a:solidFill>
                  <a:latin typeface="Calibri" panose="020F0502020204030204" pitchFamily="34" charset="0"/>
                  <a:cs typeface="Calibri" panose="020F0502020204030204" pitchFamily="34" charset="0"/>
                </a:rPr>
                <a:t>Once your poster file is ready, visit</a:t>
              </a:r>
              <a:r>
                <a:rPr lang="en-US" sz="3718" baseline="0" dirty="0">
                  <a:solidFill>
                    <a:schemeClr val="bg1">
                      <a:lumMod val="50000"/>
                    </a:schemeClr>
                  </a:solidFill>
                  <a:latin typeface="Calibri" panose="020F0502020204030204" pitchFamily="34" charset="0"/>
                  <a:cs typeface="Calibri" panose="020F0502020204030204" pitchFamily="34" charset="0"/>
                </a:rPr>
                <a:t> </a:t>
              </a:r>
              <a:r>
                <a:rPr lang="en-US" sz="3718" b="1" baseline="0" dirty="0">
                  <a:solidFill>
                    <a:schemeClr val="bg1">
                      <a:lumMod val="50000"/>
                    </a:schemeClr>
                  </a:solidFill>
                  <a:latin typeface="Calibri" panose="020F0502020204030204" pitchFamily="34" charset="0"/>
                  <a:cs typeface="Calibri" panose="020F0502020204030204" pitchFamily="34" charset="0"/>
                </a:rPr>
                <a:t>www.genigraphics.com</a:t>
              </a:r>
              <a:r>
                <a:rPr lang="en-US" sz="3718" baseline="0" dirty="0">
                  <a:solidFill>
                    <a:schemeClr val="bg1">
                      <a:lumMod val="50000"/>
                    </a:schemeClr>
                  </a:solidFill>
                  <a:latin typeface="Calibri" panose="020F0502020204030204"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339"/>
                </a:spcAft>
              </a:pPr>
              <a:r>
                <a:rPr lang="en-US" sz="3718" baseline="0" dirty="0">
                  <a:solidFill>
                    <a:schemeClr val="bg1">
                      <a:lumMod val="50000"/>
                    </a:schemeClr>
                  </a:solidFill>
                  <a:latin typeface="Calibri" panose="020F0502020204030204"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3718" baseline="0"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r>
                <a:rPr lang="en-US" sz="3718" baseline="0" dirty="0">
                  <a:solidFill>
                    <a:schemeClr val="bg1">
                      <a:lumMod val="50000"/>
                    </a:schemeClr>
                  </a:solidFill>
                  <a:latin typeface="Calibri" panose="020F0502020204030204" pitchFamily="34" charset="0"/>
                  <a:cs typeface="Calibri" panose="020F0502020204030204" pitchFamily="34" charset="0"/>
                </a:rPr>
                <a:t>US and Canada:  1-800-790-4001</a:t>
              </a:r>
              <a:br>
                <a:rPr lang="en-US" sz="3718" baseline="0" dirty="0">
                  <a:solidFill>
                    <a:schemeClr val="bg1">
                      <a:lumMod val="50000"/>
                    </a:schemeClr>
                  </a:solidFill>
                  <a:latin typeface="Calibri" panose="020F0502020204030204" pitchFamily="34" charset="0"/>
                  <a:cs typeface="Calibri" panose="020F0502020204030204" pitchFamily="34" charset="0"/>
                </a:rPr>
              </a:br>
              <a:r>
                <a:rPr lang="en-US" sz="3718" baseline="0" dirty="0">
                  <a:solidFill>
                    <a:schemeClr val="bg1">
                      <a:lumMod val="50000"/>
                    </a:schemeClr>
                  </a:solidFill>
                  <a:latin typeface="Calibri" panose="020F0502020204030204" pitchFamily="34" charset="0"/>
                  <a:cs typeface="Calibri" panose="020F0502020204030204" pitchFamily="34" charset="0"/>
                </a:rPr>
                <a:t>Email: info@genigraphics.com</a:t>
              </a:r>
            </a:p>
            <a:p>
              <a:pPr lvl="0" algn="ctr">
                <a:spcBef>
                  <a:spcPts val="0"/>
                </a:spcBef>
                <a:spcAft>
                  <a:spcPts val="0"/>
                </a:spcAft>
              </a:pPr>
              <a:endParaRPr lang="en-US" sz="2975"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endParaRPr lang="en-US" sz="2975"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br>
                <a:rPr lang="en-US" sz="2975" dirty="0">
                  <a:solidFill>
                    <a:schemeClr val="bg1">
                      <a:lumMod val="50000"/>
                    </a:schemeClr>
                  </a:solidFill>
                  <a:latin typeface="Calibri" panose="020F0502020204030204" pitchFamily="34" charset="0"/>
                  <a:cs typeface="Calibri" panose="020F0502020204030204" pitchFamily="34" charset="0"/>
                </a:rPr>
              </a:br>
              <a:r>
                <a:rPr lang="en-US" sz="2975" dirty="0">
                  <a:solidFill>
                    <a:schemeClr val="bg1">
                      <a:lumMod val="50000"/>
                    </a:schemeClr>
                  </a:solidFill>
                  <a:latin typeface="Calibri" panose="020F0502020204030204"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7634673"/>
              <a:ext cx="11904515" cy="10246927"/>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630405" y="30396649"/>
            <a:ext cx="3531623" cy="124442"/>
          </a:xfrm>
          <a:prstGeom prst="rect">
            <a:avLst/>
          </a:prstGeom>
        </p:spPr>
      </p:pic>
    </p:spTree>
    <p:extLst>
      <p:ext uri="{BB962C8B-B14F-4D97-AF65-F5344CB8AC3E}">
        <p14:creationId xmlns:p14="http://schemas.microsoft.com/office/powerpoint/2010/main" val="163316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1629208"/>
            <a:ext cx="15773400" cy="591471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8146007"/>
            <a:ext cx="15773400" cy="194158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28362276"/>
            <a:ext cx="4114800" cy="1629201"/>
          </a:xfrm>
          <a:prstGeom prst="rect">
            <a:avLst/>
          </a:prstGeom>
        </p:spPr>
        <p:txBody>
          <a:bodyPr vert="horz" lIns="91440" tIns="45720" rIns="91440" bIns="45720" rtlCol="0" anchor="ctr"/>
          <a:lstStyle>
            <a:lvl1pPr algn="l">
              <a:defRPr sz="2400">
                <a:solidFill>
                  <a:schemeClr val="tx1">
                    <a:tint val="75000"/>
                  </a:schemeClr>
                </a:solidFill>
              </a:defRPr>
            </a:lvl1pPr>
          </a:lstStyle>
          <a:p>
            <a:fld id="{985D6BDF-9D0E-4E2B-85B8-D8F4790360C9}" type="datetimeFigureOut">
              <a:rPr lang="en-US" smtClean="0"/>
              <a:t>6/14/2026</a:t>
            </a:fld>
            <a:endParaRPr lang="en-US" dirty="0"/>
          </a:p>
        </p:txBody>
      </p:sp>
      <p:sp>
        <p:nvSpPr>
          <p:cNvPr id="5" name="Footer Placeholder 4"/>
          <p:cNvSpPr>
            <a:spLocks noGrp="1"/>
          </p:cNvSpPr>
          <p:nvPr>
            <p:ph type="ftr" sz="quarter" idx="3"/>
          </p:nvPr>
        </p:nvSpPr>
        <p:spPr>
          <a:xfrm>
            <a:off x="6057900" y="28362276"/>
            <a:ext cx="6172200" cy="1629201"/>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28362276"/>
            <a:ext cx="4114800" cy="1629201"/>
          </a:xfrm>
          <a:prstGeom prst="rect">
            <a:avLst/>
          </a:prstGeom>
        </p:spPr>
        <p:txBody>
          <a:bodyPr vert="horz" lIns="91440" tIns="45720" rIns="91440" bIns="45720" rtlCol="0" anchor="ctr"/>
          <a:lstStyle>
            <a:lvl1pPr algn="r">
              <a:defRPr sz="24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294954467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luay0100453@eng.bnu.edu.eg" TargetMode="External"/><Relationship Id="rId13" Type="http://schemas.openxmlformats.org/officeDocument/2006/relationships/image" Target="../media/image6.PNG"/><Relationship Id="rId18" Type="http://schemas.openxmlformats.org/officeDocument/2006/relationships/image" Target="../media/image11.jpeg"/><Relationship Id="rId3" Type="http://schemas.openxmlformats.org/officeDocument/2006/relationships/image" Target="../media/image3.png"/><Relationship Id="rId7" Type="http://schemas.openxmlformats.org/officeDocument/2006/relationships/hyperlink" Target="mailto:carolm.sawires@yahoo.com" TargetMode="External"/><Relationship Id="rId12" Type="http://schemas.openxmlformats.org/officeDocument/2006/relationships/image" Target="../media/image5.png"/><Relationship Id="rId17" Type="http://schemas.openxmlformats.org/officeDocument/2006/relationships/image" Target="../media/image10.jpeg"/><Relationship Id="rId2" Type="http://schemas.openxmlformats.org/officeDocument/2006/relationships/notesSlide" Target="../notesSlides/notesSlide1.xml"/><Relationship Id="rId16" Type="http://schemas.openxmlformats.org/officeDocument/2006/relationships/image" Target="../media/image9.jpeg"/><Relationship Id="rId1" Type="http://schemas.openxmlformats.org/officeDocument/2006/relationships/slideLayout" Target="../slideLayouts/slideLayout12.xml"/><Relationship Id="rId6" Type="http://schemas.openxmlformats.org/officeDocument/2006/relationships/hyperlink" Target="mailto:motazfandies11@gmail.com" TargetMode="External"/><Relationship Id="rId11" Type="http://schemas.openxmlformats.org/officeDocument/2006/relationships/image" Target="../media/image4.jpeg"/><Relationship Id="rId5" Type="http://schemas.openxmlformats.org/officeDocument/2006/relationships/hyperlink" Target="mailto:saifhalim2004@gmail.com" TargetMode="External"/><Relationship Id="rId15" Type="http://schemas.openxmlformats.org/officeDocument/2006/relationships/image" Target="../media/image8.jpeg"/><Relationship Id="rId10" Type="http://schemas.openxmlformats.org/officeDocument/2006/relationships/hyperlink" Target="mailto:Maigamalfouad@gmail.com" TargetMode="External"/><Relationship Id="rId19" Type="http://schemas.openxmlformats.org/officeDocument/2006/relationships/image" Target="../media/image12.jpeg"/><Relationship Id="rId4" Type="http://schemas.openxmlformats.org/officeDocument/2006/relationships/hyperlink" Target="mailto:moataz.elsherbiny@eng.bnu.edu.eg" TargetMode="External"/><Relationship Id="rId9" Type="http://schemas.openxmlformats.org/officeDocument/2006/relationships/hyperlink" Target="mailto:malakikramy983@gmail.com" TargetMode="External"/><Relationship Id="rId1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327230" y="495846"/>
            <a:ext cx="7977457" cy="155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2002" tIns="204004" rIns="102002" bIns="204004" anchor="t" anchorCtr="0">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US" sz="3718" b="1" dirty="0">
                <a:solidFill>
                  <a:schemeClr val="accent3">
                    <a:lumMod val="20000"/>
                    <a:lumOff val="80000"/>
                  </a:schemeClr>
                </a:solidFill>
                <a:latin typeface="+mn-lt"/>
              </a:rPr>
              <a:t>ELDERLY-SMART HEALTH MONITORING SYSTEM</a:t>
            </a:r>
          </a:p>
        </p:txBody>
      </p:sp>
      <p:sp>
        <p:nvSpPr>
          <p:cNvPr id="5" name="Text Box 123"/>
          <p:cNvSpPr txBox="1">
            <a:spLocks noChangeArrowheads="1"/>
          </p:cNvSpPr>
          <p:nvPr/>
        </p:nvSpPr>
        <p:spPr bwMode="auto">
          <a:xfrm>
            <a:off x="2552658" y="1983374"/>
            <a:ext cx="12612306" cy="14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002" tIns="102002" rIns="102002" bIns="102002" anchor="ctr" anchorCtr="0"/>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US" sz="2324" b="1" dirty="0">
                <a:solidFill>
                  <a:schemeClr val="accent3">
                    <a:lumMod val="20000"/>
                    <a:lumOff val="80000"/>
                  </a:schemeClr>
                </a:solidFill>
                <a:latin typeface="+mn-lt"/>
              </a:rPr>
              <a:t>Carol Maged, Malak </a:t>
            </a:r>
            <a:r>
              <a:rPr lang="en-US" sz="2324" b="1" dirty="0" err="1">
                <a:solidFill>
                  <a:schemeClr val="accent3">
                    <a:lumMod val="20000"/>
                    <a:lumOff val="80000"/>
                  </a:schemeClr>
                </a:solidFill>
                <a:latin typeface="+mn-lt"/>
              </a:rPr>
              <a:t>Ikramy</a:t>
            </a:r>
            <a:r>
              <a:rPr lang="en-US" sz="2324" b="1" dirty="0">
                <a:solidFill>
                  <a:schemeClr val="accent3">
                    <a:lumMod val="20000"/>
                    <a:lumOff val="80000"/>
                  </a:schemeClr>
                </a:solidFill>
                <a:latin typeface="+mn-lt"/>
              </a:rPr>
              <a:t>, Mai Gamal, Saif </a:t>
            </a:r>
            <a:r>
              <a:rPr lang="en-US" sz="2324" b="1" dirty="0" err="1">
                <a:solidFill>
                  <a:schemeClr val="accent3">
                    <a:lumMod val="20000"/>
                    <a:lumOff val="80000"/>
                  </a:schemeClr>
                </a:solidFill>
                <a:latin typeface="+mn-lt"/>
              </a:rPr>
              <a:t>Abdelhaleem</a:t>
            </a:r>
            <a:r>
              <a:rPr lang="en-US" sz="2324" b="1" dirty="0">
                <a:solidFill>
                  <a:schemeClr val="accent3">
                    <a:lumMod val="20000"/>
                    <a:lumOff val="80000"/>
                  </a:schemeClr>
                </a:solidFill>
                <a:latin typeface="+mn-lt"/>
              </a:rPr>
              <a:t>, Motaz Mohamed, Loay Islam</a:t>
            </a:r>
          </a:p>
          <a:p>
            <a:pPr algn="ctr" eaLnBrk="1" hangingPunct="1"/>
            <a:r>
              <a:rPr lang="en-US" sz="2324" b="1" dirty="0">
                <a:solidFill>
                  <a:schemeClr val="accent3">
                    <a:lumMod val="20000"/>
                    <a:lumOff val="80000"/>
                  </a:schemeClr>
                </a:solidFill>
                <a:latin typeface="+mn-lt"/>
              </a:rPr>
              <a:t>Supervised By: Dr. </a:t>
            </a:r>
            <a:r>
              <a:rPr lang="en-US" sz="2324" b="1" dirty="0" err="1">
                <a:solidFill>
                  <a:schemeClr val="accent3">
                    <a:lumMod val="20000"/>
                    <a:lumOff val="80000"/>
                  </a:schemeClr>
                </a:solidFill>
                <a:latin typeface="+mn-lt"/>
              </a:rPr>
              <a:t>Moataz</a:t>
            </a:r>
            <a:r>
              <a:rPr lang="en-US" sz="2324" b="1" dirty="0">
                <a:solidFill>
                  <a:schemeClr val="accent3">
                    <a:lumMod val="20000"/>
                    <a:lumOff val="80000"/>
                  </a:schemeClr>
                </a:solidFill>
                <a:latin typeface="+mn-lt"/>
              </a:rPr>
              <a:t> M. </a:t>
            </a:r>
            <a:r>
              <a:rPr lang="en-US" sz="2324" b="1" dirty="0" err="1">
                <a:solidFill>
                  <a:schemeClr val="accent3">
                    <a:lumMod val="20000"/>
                    <a:lumOff val="80000"/>
                  </a:schemeClr>
                </a:solidFill>
                <a:latin typeface="+mn-lt"/>
              </a:rPr>
              <a:t>Elsherbini</a:t>
            </a:r>
            <a:r>
              <a:rPr lang="en-US" sz="2324" b="1" dirty="0">
                <a:solidFill>
                  <a:schemeClr val="accent3">
                    <a:lumMod val="20000"/>
                    <a:lumOff val="80000"/>
                  </a:schemeClr>
                </a:solidFill>
                <a:latin typeface="+mn-lt"/>
              </a:rPr>
              <a:t> </a:t>
            </a:r>
          </a:p>
          <a:p>
            <a:pPr algn="ctr" eaLnBrk="1" hangingPunct="1"/>
            <a:r>
              <a:rPr lang="en-US" sz="2092" b="1" dirty="0">
                <a:solidFill>
                  <a:schemeClr val="accent3">
                    <a:lumMod val="20000"/>
                    <a:lumOff val="80000"/>
                  </a:schemeClr>
                </a:solidFill>
                <a:latin typeface="+mn-lt"/>
              </a:rPr>
              <a:t>Department of Communication Engineering, </a:t>
            </a:r>
            <a:r>
              <a:rPr lang="en-US" sz="2092" b="1" dirty="0" err="1">
                <a:solidFill>
                  <a:schemeClr val="accent3">
                    <a:lumMod val="20000"/>
                    <a:lumOff val="80000"/>
                  </a:schemeClr>
                </a:solidFill>
                <a:latin typeface="+mn-lt"/>
              </a:rPr>
              <a:t>Benha</a:t>
            </a:r>
            <a:r>
              <a:rPr lang="en-US" sz="2092" b="1" dirty="0">
                <a:solidFill>
                  <a:schemeClr val="accent3">
                    <a:lumMod val="20000"/>
                    <a:lumOff val="80000"/>
                  </a:schemeClr>
                </a:solidFill>
                <a:latin typeface="+mn-lt"/>
              </a:rPr>
              <a:t> National University(BNU)</a:t>
            </a:r>
            <a:endParaRPr lang="en-US" sz="2092" b="1" baseline="30000" dirty="0">
              <a:solidFill>
                <a:schemeClr val="accent3">
                  <a:lumMod val="20000"/>
                  <a:lumOff val="80000"/>
                </a:schemeClr>
              </a:solidFill>
              <a:latin typeface="+mn-lt"/>
            </a:endParaRPr>
          </a:p>
        </p:txBody>
      </p:sp>
      <p:grpSp>
        <p:nvGrpSpPr>
          <p:cNvPr id="27" name="Group 26">
            <a:extLst>
              <a:ext uri="{FF2B5EF4-FFF2-40B4-BE49-F238E27FC236}">
                <a16:creationId xmlns:a16="http://schemas.microsoft.com/office/drawing/2014/main" id="{D926C20E-A5E5-ED6D-D16E-0187161681ED}"/>
              </a:ext>
            </a:extLst>
          </p:cNvPr>
          <p:cNvGrpSpPr/>
          <p:nvPr/>
        </p:nvGrpSpPr>
        <p:grpSpPr>
          <a:xfrm>
            <a:off x="2244687" y="3630533"/>
            <a:ext cx="6630142" cy="4245883"/>
            <a:chOff x="2244687" y="3630533"/>
            <a:chExt cx="6630142" cy="4245883"/>
          </a:xfrm>
        </p:grpSpPr>
        <p:sp>
          <p:nvSpPr>
            <p:cNvPr id="10" name="Text Box 189"/>
            <p:cNvSpPr txBox="1">
              <a:spLocks noChangeArrowheads="1"/>
            </p:cNvSpPr>
            <p:nvPr/>
          </p:nvSpPr>
          <p:spPr bwMode="auto">
            <a:xfrm>
              <a:off x="2244687" y="4072512"/>
              <a:ext cx="6630141" cy="3803904"/>
            </a:xfrm>
            <a:prstGeom prst="rect">
              <a:avLst/>
            </a:prstGeom>
            <a:solidFill>
              <a:schemeClr val="bg1"/>
            </a:solidFill>
            <a:ln w="12700">
              <a:solidFill>
                <a:schemeClr val="accent1">
                  <a:lumMod val="75000"/>
                </a:schemeClr>
              </a:solidFill>
            </a:ln>
            <a:effectLst/>
          </p:spPr>
          <p:txBody>
            <a:bodyPr lIns="102002" tIns="102002" rIns="102002" bIns="102002">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1670" dirty="0">
                  <a:solidFill>
                    <a:srgbClr val="111111"/>
                  </a:solidFill>
                  <a:ea typeface="Arial" pitchFamily="34" charset="-122"/>
                  <a:cs typeface="Arial" pitchFamily="34" charset="-120"/>
                </a:rPr>
                <a:t>The rapid growth of the elderly population has created an urgent need for continuous, reliable home-based health monitoring. This project presents the design and implementation of the Elderly-Smart Health Monitoring System — a non-contact IoT-based device placed beside the patient that continuously measures body temperature, heart rate, blood oxygen saturation (SpO₂), and stress level, while also detecting falls.</a:t>
              </a:r>
              <a:endParaRPr lang="en-US" sz="1670" dirty="0"/>
            </a:p>
            <a:p>
              <a:r>
                <a:rPr lang="en-US" sz="1670" dirty="0">
                  <a:solidFill>
                    <a:srgbClr val="111111"/>
                  </a:solidFill>
                  <a:ea typeface="Arial" pitchFamily="34" charset="-122"/>
                  <a:cs typeface="Arial" pitchFamily="34" charset="-120"/>
                </a:rPr>
                <a:t>The system leverages the ESP32 microcontroller with Wi-Fi and Bluetooth for wireless data transmission. A companion smartphone app streams live readings and stores full health history. An AI chatbot analyzes data, provides health recommendations, and predicts potential health issues. Automated alerts notify caregivers when readings fall outside safe thresholds, enhancing safety and quality of life for elderly patients</a:t>
              </a:r>
              <a:endParaRPr lang="en-US" sz="1670" dirty="0">
                <a:latin typeface="Calibri" panose="020F0502020204030204" pitchFamily="34" charset="0"/>
              </a:endParaRPr>
            </a:p>
          </p:txBody>
        </p:sp>
        <p:sp>
          <p:nvSpPr>
            <p:cNvPr id="32" name="Rectangle 31"/>
            <p:cNvSpPr/>
            <p:nvPr/>
          </p:nvSpPr>
          <p:spPr>
            <a:xfrm>
              <a:off x="2244688" y="3630533"/>
              <a:ext cx="6630141"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Abstract</a:t>
              </a:r>
            </a:p>
          </p:txBody>
        </p:sp>
      </p:grpSp>
      <p:sp>
        <p:nvSpPr>
          <p:cNvPr id="13" name="Text Box 192"/>
          <p:cNvSpPr txBox="1">
            <a:spLocks noChangeArrowheads="1"/>
          </p:cNvSpPr>
          <p:nvPr/>
        </p:nvSpPr>
        <p:spPr bwMode="auto">
          <a:xfrm>
            <a:off x="2240459" y="12432640"/>
            <a:ext cx="6625912" cy="4831878"/>
          </a:xfrm>
          <a:prstGeom prst="rect">
            <a:avLst/>
          </a:prstGeom>
          <a:solidFill>
            <a:schemeClr val="bg1"/>
          </a:solidFill>
          <a:ln w="12700">
            <a:solidFill>
              <a:schemeClr val="accent1">
                <a:lumMod val="75000"/>
              </a:schemeClr>
            </a:solidFill>
          </a:ln>
          <a:effectLst/>
        </p:spPr>
        <p:txBody>
          <a:bodyPr wrap="square" lIns="102002" tIns="102002" rIns="102002" bIns="102002">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1670" dirty="0">
                <a:solidFill>
                  <a:srgbClr val="111111"/>
                </a:solidFill>
                <a:ea typeface="Arial" pitchFamily="34" charset="-122"/>
                <a:cs typeface="Arial" pitchFamily="34" charset="-120"/>
              </a:rPr>
              <a:t>The system integrates five biomedical sensors with the ESP32 </a:t>
            </a:r>
            <a:r>
              <a:rPr lang="en-US" sz="1670" dirty="0" err="1">
                <a:solidFill>
                  <a:srgbClr val="111111"/>
                </a:solidFill>
                <a:ea typeface="Arial" pitchFamily="34" charset="-122"/>
                <a:cs typeface="Arial" pitchFamily="34" charset="-120"/>
              </a:rPr>
              <a:t>DevKit</a:t>
            </a:r>
            <a:r>
              <a:rPr lang="en-US" sz="1670" dirty="0">
                <a:solidFill>
                  <a:srgbClr val="111111"/>
                </a:solidFill>
                <a:ea typeface="Arial" pitchFamily="34" charset="-122"/>
                <a:cs typeface="Arial" pitchFamily="34" charset="-120"/>
              </a:rPr>
              <a:t> V1 microcontroller:</a:t>
            </a:r>
            <a:endParaRPr lang="en-US" sz="1670" dirty="0"/>
          </a:p>
          <a:p>
            <a:r>
              <a:rPr lang="en-US" sz="1670" dirty="0">
                <a:solidFill>
                  <a:srgbClr val="111111"/>
                </a:solidFill>
                <a:ea typeface="Arial" pitchFamily="34" charset="-122"/>
                <a:cs typeface="Arial" pitchFamily="34" charset="-120"/>
              </a:rPr>
              <a:t>• MLX90614 — Contactless IR temperature sensor for non-invasive body temperature measurement.</a:t>
            </a:r>
            <a:endParaRPr lang="en-US" sz="1670" dirty="0"/>
          </a:p>
          <a:p>
            <a:r>
              <a:rPr lang="en-US" sz="1670" dirty="0">
                <a:solidFill>
                  <a:srgbClr val="111111"/>
                </a:solidFill>
                <a:ea typeface="Arial" pitchFamily="34" charset="-122"/>
                <a:cs typeface="Arial" pitchFamily="34" charset="-120"/>
              </a:rPr>
              <a:t>• MAX30102 — Pulse oximeter and heart rate sensor measuring SpO₂ and BPM optically.</a:t>
            </a:r>
            <a:endParaRPr lang="en-US" sz="1670" dirty="0"/>
          </a:p>
          <a:p>
            <a:r>
              <a:rPr lang="en-US" sz="1670" dirty="0">
                <a:solidFill>
                  <a:srgbClr val="111111"/>
                </a:solidFill>
                <a:ea typeface="Arial" pitchFamily="34" charset="-122"/>
                <a:cs typeface="Arial" pitchFamily="34" charset="-120"/>
              </a:rPr>
              <a:t>• MPU6050 — Accelerometer and gyroscope for fall detection using motion analysis.</a:t>
            </a:r>
            <a:endParaRPr lang="en-US" sz="1670" dirty="0"/>
          </a:p>
          <a:p>
            <a:r>
              <a:rPr lang="en-US" sz="1670" dirty="0">
                <a:solidFill>
                  <a:srgbClr val="111111"/>
                </a:solidFill>
                <a:ea typeface="Arial" pitchFamily="34" charset="-122"/>
                <a:cs typeface="Arial" pitchFamily="34" charset="-120"/>
              </a:rPr>
              <a:t>• GSR Skin Electrical Sensor — Measures galvanic skin response to assess stress level via sweat gland activity.</a:t>
            </a:r>
            <a:endParaRPr lang="en-US" sz="1670" dirty="0"/>
          </a:p>
          <a:p>
            <a:r>
              <a:rPr lang="en-US" sz="1670" dirty="0">
                <a:solidFill>
                  <a:srgbClr val="111111"/>
                </a:solidFill>
                <a:ea typeface="Arial" pitchFamily="34" charset="-122"/>
                <a:cs typeface="Arial" pitchFamily="34" charset="-120"/>
              </a:rPr>
              <a:t>• NTC 10K Thermistor — Monitors internal PCB temperature to prevent overheating.</a:t>
            </a:r>
            <a:endParaRPr lang="en-US" sz="1670" dirty="0"/>
          </a:p>
          <a:p>
            <a:r>
              <a:rPr lang="en-US" sz="1670" dirty="0">
                <a:solidFill>
                  <a:srgbClr val="111111"/>
                </a:solidFill>
                <a:ea typeface="Arial" pitchFamily="34" charset="-122"/>
                <a:cs typeface="Arial" pitchFamily="34" charset="-120"/>
              </a:rPr>
              <a:t>All sensors interface with the ESP32 via I²C, SPI, or ADC pins. The ESP32 processes data locally and transmits wirelessly to the companion app over Wi-Fi. The mobile application (Android/iOS) provides live readings, historical charts, and AI chatbot integration. Fall detection triggers an immediate push notification to the caregiver.</a:t>
            </a:r>
            <a:endParaRPr lang="en-US" sz="1670" dirty="0"/>
          </a:p>
        </p:txBody>
      </p:sp>
      <p:sp>
        <p:nvSpPr>
          <p:cNvPr id="34" name="Rectangle 33"/>
          <p:cNvSpPr/>
          <p:nvPr/>
        </p:nvSpPr>
        <p:spPr>
          <a:xfrm>
            <a:off x="2238558" y="12007631"/>
            <a:ext cx="6630141"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Methods and Materials</a:t>
            </a:r>
          </a:p>
        </p:txBody>
      </p:sp>
      <p:grpSp>
        <p:nvGrpSpPr>
          <p:cNvPr id="25" name="Group 24">
            <a:extLst>
              <a:ext uri="{FF2B5EF4-FFF2-40B4-BE49-F238E27FC236}">
                <a16:creationId xmlns:a16="http://schemas.microsoft.com/office/drawing/2014/main" id="{2EE7BD0C-9B35-083D-8C92-91496A9A2F29}"/>
              </a:ext>
            </a:extLst>
          </p:cNvPr>
          <p:cNvGrpSpPr/>
          <p:nvPr/>
        </p:nvGrpSpPr>
        <p:grpSpPr>
          <a:xfrm>
            <a:off x="9342845" y="18589345"/>
            <a:ext cx="6664692" cy="5256888"/>
            <a:chOff x="9333001" y="17636424"/>
            <a:chExt cx="6664692" cy="5256888"/>
          </a:xfrm>
        </p:grpSpPr>
        <p:sp>
          <p:nvSpPr>
            <p:cNvPr id="14" name="Text Box 193"/>
            <p:cNvSpPr txBox="1">
              <a:spLocks noChangeArrowheads="1"/>
            </p:cNvSpPr>
            <p:nvPr/>
          </p:nvSpPr>
          <p:spPr bwMode="auto">
            <a:xfrm>
              <a:off x="9333001" y="18061434"/>
              <a:ext cx="6664692" cy="4831878"/>
            </a:xfrm>
            <a:prstGeom prst="rect">
              <a:avLst/>
            </a:prstGeom>
            <a:solidFill>
              <a:schemeClr val="bg1"/>
            </a:solidFill>
            <a:ln w="12700">
              <a:solidFill>
                <a:schemeClr val="accent1">
                  <a:lumMod val="75000"/>
                </a:schemeClr>
              </a:solidFill>
            </a:ln>
            <a:effectLst/>
          </p:spPr>
          <p:txBody>
            <a:bodyPr wrap="square" lIns="102002" tIns="102002" rIns="102002" bIns="102002">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1670" dirty="0">
                  <a:solidFill>
                    <a:srgbClr val="111111"/>
                  </a:solidFill>
                  <a:ea typeface="Arial" pitchFamily="34" charset="-122"/>
                  <a:cs typeface="Arial" pitchFamily="34" charset="-120"/>
                </a:rPr>
                <a:t>The Elderly-Smart Health Monitoring System successfully demonstrates a non-contact, IoT-based approach to continuous home healthcare for elderly patients. By integrating five biomedical sensors with the ESP32 microcontroller, the system achieves simultaneous real-time measurement of body temperature, heart rate, SpO₂, stress level, and fall detection — all without requiring the patient to wear any device.</a:t>
              </a:r>
              <a:endParaRPr lang="en-US" sz="1670" dirty="0"/>
            </a:p>
            <a:p>
              <a:r>
                <a:rPr lang="en-US" sz="1670" dirty="0">
                  <a:solidFill>
                    <a:srgbClr val="111111"/>
                  </a:solidFill>
                  <a:ea typeface="Arial" pitchFamily="34" charset="-122"/>
                  <a:cs typeface="Arial" pitchFamily="34" charset="-120"/>
                </a:rPr>
                <a:t>The companion smartphone app and AI chatbot extend functionality beyond simple monitoring: all data is securely stored, family and caregivers can follow the patient's condition remotely from anywhere, and the AI provides personalized health recommendations and early prediction of health risks. Automated alerts ensure immediate caregiver response when any vital sign falls outside safe thresholds.</a:t>
              </a:r>
              <a:endParaRPr lang="en-US" sz="1670" dirty="0"/>
            </a:p>
            <a:p>
              <a:r>
                <a:rPr lang="en-US" sz="1670" dirty="0">
                  <a:solidFill>
                    <a:srgbClr val="111111"/>
                  </a:solidFill>
                  <a:ea typeface="Arial" pitchFamily="34" charset="-122"/>
                  <a:cs typeface="Arial" pitchFamily="34" charset="-120"/>
                </a:rPr>
                <a:t>This project demonstrates an effective, cost-efficient, and dignified solution for remote elderly healthcare management, with direct potential for clinical adoption and further AI enhancement in future work.</a:t>
              </a:r>
              <a:endParaRPr lang="en-US" sz="1670" dirty="0"/>
            </a:p>
          </p:txBody>
        </p:sp>
        <p:sp>
          <p:nvSpPr>
            <p:cNvPr id="36" name="Rectangle 35"/>
            <p:cNvSpPr/>
            <p:nvPr/>
          </p:nvSpPr>
          <p:spPr>
            <a:xfrm>
              <a:off x="9333001" y="17636424"/>
              <a:ext cx="6664692"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Conclusions</a:t>
              </a:r>
            </a:p>
          </p:txBody>
        </p:sp>
      </p:grpSp>
      <p:grpSp>
        <p:nvGrpSpPr>
          <p:cNvPr id="12" name="Group 11">
            <a:extLst>
              <a:ext uri="{FF2B5EF4-FFF2-40B4-BE49-F238E27FC236}">
                <a16:creationId xmlns:a16="http://schemas.microsoft.com/office/drawing/2014/main" id="{8439C6A5-D928-2E22-10B6-938C6B609557}"/>
              </a:ext>
            </a:extLst>
          </p:cNvPr>
          <p:cNvGrpSpPr/>
          <p:nvPr/>
        </p:nvGrpSpPr>
        <p:grpSpPr>
          <a:xfrm>
            <a:off x="2244687" y="7798937"/>
            <a:ext cx="6621684" cy="4215723"/>
            <a:chOff x="2258854" y="6941815"/>
            <a:chExt cx="6630141" cy="4350746"/>
          </a:xfrm>
        </p:grpSpPr>
        <p:sp>
          <p:nvSpPr>
            <p:cNvPr id="33" name="Rectangle 32"/>
            <p:cNvSpPr/>
            <p:nvPr/>
          </p:nvSpPr>
          <p:spPr>
            <a:xfrm>
              <a:off x="2258854" y="6941815"/>
              <a:ext cx="6630141"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Introduction</a:t>
              </a:r>
            </a:p>
          </p:txBody>
        </p:sp>
        <p:sp>
          <p:nvSpPr>
            <p:cNvPr id="11" name="Text Box 190"/>
            <p:cNvSpPr txBox="1">
              <a:spLocks noChangeArrowheads="1"/>
            </p:cNvSpPr>
            <p:nvPr/>
          </p:nvSpPr>
          <p:spPr bwMode="auto">
            <a:xfrm>
              <a:off x="2258854" y="7366824"/>
              <a:ext cx="6630141" cy="3925737"/>
            </a:xfrm>
            <a:prstGeom prst="rect">
              <a:avLst/>
            </a:prstGeom>
            <a:solidFill>
              <a:schemeClr val="bg1"/>
            </a:solidFill>
            <a:ln w="12700">
              <a:solidFill>
                <a:schemeClr val="accent1">
                  <a:lumMod val="75000"/>
                </a:schemeClr>
              </a:solidFill>
            </a:ln>
            <a:effectLst/>
          </p:spPr>
          <p:txBody>
            <a:bodyPr lIns="102002" tIns="102002" rIns="102002" bIns="102002">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1670" dirty="0">
                  <a:solidFill>
                    <a:srgbClr val="111111"/>
                  </a:solidFill>
                  <a:ea typeface="Arial" pitchFamily="34" charset="-122"/>
                  <a:cs typeface="Arial" pitchFamily="34" charset="-120"/>
                </a:rPr>
                <a:t>The rapid development of embedded systems, sensor networks, and communication technologies has made healthcare monitoring a critical part of modern medical services. Traditional hospital monitoring is costly and inaccessible for continuous home use, creating a gap in elderly care.</a:t>
              </a:r>
              <a:endParaRPr lang="en-US" sz="1670" dirty="0"/>
            </a:p>
            <a:p>
              <a:r>
                <a:rPr lang="en-US" sz="1670" dirty="0">
                  <a:solidFill>
                    <a:srgbClr val="111111"/>
                  </a:solidFill>
                  <a:ea typeface="Arial" pitchFamily="34" charset="-122"/>
                  <a:cs typeface="Arial" pitchFamily="34" charset="-120"/>
                </a:rPr>
                <a:t>Our system addresses this by providing a bedside device — no wearables required — that monitors four key vital signs 24/7. The device requires no technical expertise from the patient; it simply needs to be placed near them.</a:t>
              </a:r>
              <a:endParaRPr lang="en-US" sz="1670" dirty="0"/>
            </a:p>
            <a:p>
              <a:r>
                <a:rPr lang="en-US" sz="1670" dirty="0">
                  <a:solidFill>
                    <a:srgbClr val="111111"/>
                  </a:solidFill>
                  <a:ea typeface="Arial" pitchFamily="34" charset="-122"/>
                  <a:cs typeface="Arial" pitchFamily="34" charset="-120"/>
                </a:rPr>
                <a:t>Unlike ordinary monitoring devices, the Elderly-Smart system adds intelligence through a companion app and an AI chatbot that not only displays readings but understands them — explaining results in plain language, detecting early warning patterns, and recommending action before a medical crisis occurs</a:t>
              </a:r>
              <a:endParaRPr lang="en-US" sz="1670" dirty="0"/>
            </a:p>
          </p:txBody>
        </p:sp>
      </p:grpSp>
      <p:grpSp>
        <p:nvGrpSpPr>
          <p:cNvPr id="37" name="Group 36">
            <a:extLst>
              <a:ext uri="{FF2B5EF4-FFF2-40B4-BE49-F238E27FC236}">
                <a16:creationId xmlns:a16="http://schemas.microsoft.com/office/drawing/2014/main" id="{E70F8B83-B92F-58DC-FC03-318C9351AD79}"/>
              </a:ext>
            </a:extLst>
          </p:cNvPr>
          <p:cNvGrpSpPr/>
          <p:nvPr/>
        </p:nvGrpSpPr>
        <p:grpSpPr>
          <a:xfrm>
            <a:off x="9402546" y="11576547"/>
            <a:ext cx="6640766" cy="3494908"/>
            <a:chOff x="9402546" y="3630533"/>
            <a:chExt cx="6640766" cy="3494908"/>
          </a:xfrm>
        </p:grpSpPr>
        <p:sp>
          <p:nvSpPr>
            <p:cNvPr id="15" name="Text Box 194"/>
            <p:cNvSpPr txBox="1">
              <a:spLocks noChangeArrowheads="1"/>
            </p:cNvSpPr>
            <p:nvPr/>
          </p:nvSpPr>
          <p:spPr bwMode="auto">
            <a:xfrm>
              <a:off x="9402546" y="4072512"/>
              <a:ext cx="6640766" cy="3052929"/>
            </a:xfrm>
            <a:prstGeom prst="rect">
              <a:avLst/>
            </a:prstGeom>
            <a:solidFill>
              <a:schemeClr val="bg1"/>
            </a:solidFill>
            <a:ln w="12700">
              <a:solidFill>
                <a:schemeClr val="accent1">
                  <a:lumMod val="75000"/>
                </a:schemeClr>
              </a:solidFill>
            </a:ln>
            <a:effectLst/>
          </p:spPr>
          <p:txBody>
            <a:bodyPr wrap="square" lIns="102002" tIns="102002" rIns="102002" bIns="102002">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US" sz="1670" dirty="0">
                  <a:solidFill>
                    <a:srgbClr val="111111"/>
                  </a:solidFill>
                  <a:ea typeface="Arial" pitchFamily="34" charset="-122"/>
                  <a:cs typeface="Arial" pitchFamily="34" charset="-120"/>
                </a:rPr>
                <a:t>Sensor integration with the ESP32 was validated through Proteus circuit simulation. All five sensors responded correctly within expected ranges. The MLX90614 achieved ±0.5°C accuracy compared to a commercial thermometer. The MAX30102 measured SpO₂ within ±2% and heart rate within ±3 BPM of reference readings. The MPU6050 successfully detected simulated fall events with motion thresholds tuned to minimize false positives. The GSR sensor responded to stress stimuli with measurable conductance changes. The ESP32 maintained stable Wi-Fi transmission to the companion app with sub-second latency across all sensor channels simultaneously</a:t>
              </a:r>
              <a:r>
                <a:rPr lang="en-US" sz="1800" dirty="0">
                  <a:solidFill>
                    <a:srgbClr val="111111"/>
                  </a:solidFill>
                  <a:ea typeface="Arial" pitchFamily="34" charset="-122"/>
                  <a:cs typeface="Arial" pitchFamily="34" charset="-120"/>
                </a:rPr>
                <a:t>.</a:t>
              </a:r>
              <a:endParaRPr lang="en-US" sz="1800" dirty="0"/>
            </a:p>
          </p:txBody>
        </p:sp>
        <p:sp>
          <p:nvSpPr>
            <p:cNvPr id="45" name="Rectangle 44"/>
            <p:cNvSpPr/>
            <p:nvPr/>
          </p:nvSpPr>
          <p:spPr>
            <a:xfrm>
              <a:off x="9402546" y="3630533"/>
              <a:ext cx="6640766" cy="425131"/>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a:solidFill>
                    <a:schemeClr val="accent3">
                      <a:lumMod val="20000"/>
                      <a:lumOff val="80000"/>
                    </a:schemeClr>
                  </a:solidFill>
                </a:rPr>
                <a:t>Test &amp; Results</a:t>
              </a:r>
              <a:endParaRPr lang="en-US" sz="3012" b="1" dirty="0">
                <a:solidFill>
                  <a:schemeClr val="accent3">
                    <a:lumMod val="20000"/>
                    <a:lumOff val="80000"/>
                  </a:schemeClr>
                </a:solidFill>
              </a:endParaRPr>
            </a:p>
          </p:txBody>
        </p:sp>
      </p:grpSp>
      <p:pic>
        <p:nvPicPr>
          <p:cNvPr id="46" name="Picture 45"/>
          <p:cNvPicPr/>
          <p:nvPr/>
        </p:nvPicPr>
        <p:blipFill>
          <a:blip r:embed="rId3" cstate="print">
            <a:extLst>
              <a:ext uri="{28A0092B-C50C-407E-A947-70E740481C1C}">
                <a14:useLocalDpi xmlns:a14="http://schemas.microsoft.com/office/drawing/2010/main" val="0"/>
              </a:ext>
            </a:extLst>
          </a:blip>
          <a:stretch>
            <a:fillRect/>
          </a:stretch>
        </p:blipFill>
        <p:spPr>
          <a:xfrm>
            <a:off x="559060" y="48818"/>
            <a:ext cx="2054211" cy="1738406"/>
          </a:xfrm>
          <a:prstGeom prst="rect">
            <a:avLst/>
          </a:prstGeom>
        </p:spPr>
      </p:pic>
      <p:sp>
        <p:nvSpPr>
          <p:cNvPr id="49" name="Rectangle 48"/>
          <p:cNvSpPr/>
          <p:nvPr/>
        </p:nvSpPr>
        <p:spPr>
          <a:xfrm>
            <a:off x="2238558" y="17249832"/>
            <a:ext cx="6636270" cy="432666"/>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 Block diagram</a:t>
            </a:r>
          </a:p>
        </p:txBody>
      </p:sp>
      <p:sp>
        <p:nvSpPr>
          <p:cNvPr id="55" name="TextBox 54"/>
          <p:cNvSpPr txBox="1"/>
          <p:nvPr/>
        </p:nvSpPr>
        <p:spPr>
          <a:xfrm>
            <a:off x="8895126" y="27618124"/>
            <a:ext cx="7680559" cy="2345012"/>
          </a:xfrm>
          <a:prstGeom prst="rect">
            <a:avLst/>
          </a:prstGeom>
          <a:noFill/>
        </p:spPr>
        <p:txBody>
          <a:bodyPr wrap="square" tIns="51001" bIns="51001" numCol="1" spcCol="457200" rtlCol="0">
            <a:noAutofit/>
          </a:bodyPr>
          <a:lstStyle/>
          <a:p>
            <a:pPr marL="342900" indent="-342900">
              <a:buFont typeface="+mj-lt"/>
              <a:buAutoNum type="arabicPeriod"/>
            </a:pPr>
            <a:r>
              <a:rPr lang="en-US" sz="1670" dirty="0" err="1">
                <a:solidFill>
                  <a:srgbClr val="111111"/>
                </a:solidFill>
                <a:latin typeface="Arial" pitchFamily="34" charset="0"/>
                <a:ea typeface="Arial" pitchFamily="34" charset="-122"/>
                <a:cs typeface="Arial" pitchFamily="34" charset="-120"/>
              </a:rPr>
              <a:t>Pantelopoulos</a:t>
            </a:r>
            <a:r>
              <a:rPr lang="en-US" sz="1670" dirty="0">
                <a:solidFill>
                  <a:srgbClr val="111111"/>
                </a:solidFill>
                <a:latin typeface="Arial" pitchFamily="34" charset="0"/>
                <a:ea typeface="Arial" pitchFamily="34" charset="-122"/>
                <a:cs typeface="Arial" pitchFamily="34" charset="-120"/>
              </a:rPr>
              <a:t> &amp; </a:t>
            </a:r>
            <a:r>
              <a:rPr lang="en-US" sz="1670" dirty="0" err="1">
                <a:solidFill>
                  <a:srgbClr val="111111"/>
                </a:solidFill>
                <a:latin typeface="Arial" pitchFamily="34" charset="0"/>
                <a:ea typeface="Arial" pitchFamily="34" charset="-122"/>
                <a:cs typeface="Arial" pitchFamily="34" charset="-120"/>
              </a:rPr>
              <a:t>Bourbakis</a:t>
            </a:r>
            <a:r>
              <a:rPr lang="en-US" sz="1670" dirty="0">
                <a:solidFill>
                  <a:srgbClr val="111111"/>
                </a:solidFill>
                <a:latin typeface="Arial" pitchFamily="34" charset="0"/>
                <a:ea typeface="Arial" pitchFamily="34" charset="-122"/>
                <a:cs typeface="Arial" pitchFamily="34" charset="-120"/>
              </a:rPr>
              <a:t>, IEEE Trans. Syst., Man, </a:t>
            </a:r>
            <a:r>
              <a:rPr lang="en-US" sz="1670" dirty="0" err="1">
                <a:solidFill>
                  <a:srgbClr val="111111"/>
                </a:solidFill>
                <a:latin typeface="Arial" pitchFamily="34" charset="0"/>
                <a:ea typeface="Arial" pitchFamily="34" charset="-122"/>
                <a:cs typeface="Arial" pitchFamily="34" charset="-120"/>
              </a:rPr>
              <a:t>Cybern</a:t>
            </a:r>
            <a:r>
              <a:rPr lang="en-US" sz="1670" dirty="0">
                <a:solidFill>
                  <a:srgbClr val="111111"/>
                </a:solidFill>
                <a:latin typeface="Arial" pitchFamily="34" charset="0"/>
                <a:ea typeface="Arial" pitchFamily="34" charset="-122"/>
                <a:cs typeface="Arial" pitchFamily="34" charset="-120"/>
              </a:rPr>
              <a:t>., vol. 40, pp. 1–12, 2010.</a:t>
            </a:r>
          </a:p>
          <a:p>
            <a:pPr marL="342900" indent="-342900">
              <a:buFont typeface="+mj-lt"/>
              <a:buAutoNum type="arabicPeriod"/>
            </a:pPr>
            <a:r>
              <a:rPr lang="en-US" sz="1670" dirty="0" err="1">
                <a:solidFill>
                  <a:srgbClr val="111111"/>
                </a:solidFill>
                <a:latin typeface="Arial" pitchFamily="34" charset="0"/>
                <a:ea typeface="Arial" pitchFamily="34" charset="-122"/>
                <a:cs typeface="Arial" pitchFamily="34" charset="-120"/>
              </a:rPr>
              <a:t>Haghi</a:t>
            </a:r>
            <a:r>
              <a:rPr lang="en-US" sz="1670" dirty="0">
                <a:solidFill>
                  <a:srgbClr val="111111"/>
                </a:solidFill>
                <a:latin typeface="Arial" pitchFamily="34" charset="0"/>
                <a:ea typeface="Arial" pitchFamily="34" charset="-122"/>
                <a:cs typeface="Arial" pitchFamily="34" charset="-120"/>
              </a:rPr>
              <a:t> et al., Healthcare Informatics Research, vol. 23, no. 1, pp. 4–15, 2017.</a:t>
            </a:r>
          </a:p>
          <a:p>
            <a:pPr marL="342900" indent="-342900">
              <a:buFont typeface="+mj-lt"/>
              <a:buAutoNum type="arabicPeriod"/>
            </a:pPr>
            <a:r>
              <a:rPr lang="en-US" sz="1670" dirty="0">
                <a:solidFill>
                  <a:srgbClr val="111111"/>
                </a:solidFill>
                <a:latin typeface="Arial" pitchFamily="34" charset="0"/>
                <a:ea typeface="Arial" pitchFamily="34" charset="-122"/>
                <a:cs typeface="Arial" pitchFamily="34" charset="-120"/>
              </a:rPr>
              <a:t>Islam et al., "IoT for health care: A comprehensive survey," IEEE Access, vol. 3, 2015.</a:t>
            </a:r>
          </a:p>
          <a:p>
            <a:pPr marL="342900" indent="-342900">
              <a:buFont typeface="+mj-lt"/>
              <a:buAutoNum type="arabicPeriod"/>
            </a:pPr>
            <a:r>
              <a:rPr lang="en-US" sz="1670" dirty="0">
                <a:solidFill>
                  <a:srgbClr val="111111"/>
                </a:solidFill>
                <a:latin typeface="Arial" pitchFamily="34" charset="0"/>
                <a:ea typeface="Arial" pitchFamily="34" charset="-122"/>
                <a:cs typeface="Arial" pitchFamily="34" charset="-120"/>
              </a:rPr>
              <a:t>Efendi et al., "IoT-based elderly health monitoring using Firebase," Health Sci. Rep., 2025.</a:t>
            </a:r>
          </a:p>
          <a:p>
            <a:pPr marL="342900" indent="-342900">
              <a:buFont typeface="+mj-lt"/>
              <a:buAutoNum type="arabicPeriod"/>
            </a:pPr>
            <a:r>
              <a:rPr lang="en-US" sz="1670" dirty="0" err="1">
                <a:solidFill>
                  <a:srgbClr val="111111"/>
                </a:solidFill>
                <a:latin typeface="Arial" pitchFamily="34" charset="0"/>
                <a:ea typeface="Arial" pitchFamily="34" charset="-122"/>
                <a:cs typeface="Arial" pitchFamily="34" charset="-120"/>
              </a:rPr>
              <a:t>Espressif</a:t>
            </a:r>
            <a:r>
              <a:rPr lang="en-US" sz="1670" dirty="0">
                <a:solidFill>
                  <a:srgbClr val="111111"/>
                </a:solidFill>
                <a:latin typeface="Arial" pitchFamily="34" charset="0"/>
                <a:ea typeface="Arial" pitchFamily="34" charset="-122"/>
                <a:cs typeface="Arial" pitchFamily="34" charset="-120"/>
              </a:rPr>
              <a:t> Systems, ESP32 Technical Reference Manual, 2023</a:t>
            </a:r>
            <a:r>
              <a:rPr lang="en-US" dirty="0">
                <a:solidFill>
                  <a:srgbClr val="111111"/>
                </a:solidFill>
                <a:latin typeface="Arial" pitchFamily="34" charset="0"/>
                <a:ea typeface="Arial" pitchFamily="34" charset="-122"/>
                <a:cs typeface="Arial" pitchFamily="34" charset="-120"/>
              </a:rPr>
              <a:t>.</a:t>
            </a:r>
            <a:endParaRPr lang="en-US" sz="1670" dirty="0">
              <a:latin typeface="Times New Roman" panose="02020603050405020304"/>
              <a:ea typeface="Times New Roman" panose="02020603050405020304"/>
            </a:endParaRPr>
          </a:p>
          <a:p>
            <a:pPr marL="318805" indent="-318805" algn="just">
              <a:buFont typeface="+mj-lt"/>
              <a:buAutoNum type="arabicPeriod"/>
              <a:tabLst>
                <a:tab pos="212536" algn="l"/>
                <a:tab pos="212536" algn="l"/>
                <a:tab pos="251502" algn="l"/>
              </a:tabLst>
            </a:pPr>
            <a:endParaRPr lang="en-US" sz="1673" dirty="0">
              <a:latin typeface="Times New Roman" panose="02020603050405020304"/>
              <a:ea typeface="Times New Roman" panose="02020603050405020304"/>
            </a:endParaRPr>
          </a:p>
          <a:p>
            <a:pPr marL="318805" indent="-318805" algn="just">
              <a:buFont typeface="+mj-lt"/>
              <a:buAutoNum type="arabicPeriod"/>
              <a:tabLst>
                <a:tab pos="212536" algn="l"/>
                <a:tab pos="212536" algn="l"/>
                <a:tab pos="251502" algn="l"/>
              </a:tabLst>
            </a:pPr>
            <a:endParaRPr lang="en-US" sz="1673" dirty="0">
              <a:latin typeface="Times New Roman" panose="02020603050405020304"/>
              <a:ea typeface="Times New Roman" panose="02020603050405020304"/>
            </a:endParaRPr>
          </a:p>
          <a:p>
            <a:pPr marL="318805" indent="-318805" algn="just">
              <a:buFont typeface="+mj-lt"/>
              <a:buAutoNum type="arabicPeriod"/>
              <a:tabLst>
                <a:tab pos="212536" algn="l"/>
                <a:tab pos="212536" algn="l"/>
                <a:tab pos="251502" algn="l"/>
              </a:tabLst>
            </a:pPr>
            <a:endParaRPr lang="en-US" sz="1673" dirty="0">
              <a:latin typeface="Times New Roman" panose="02020603050405020304"/>
              <a:ea typeface="Times New Roman" panose="02020603050405020304"/>
            </a:endParaRPr>
          </a:p>
          <a:p>
            <a:pPr marL="318805" indent="-318805" algn="just">
              <a:buFont typeface="+mj-lt"/>
              <a:buAutoNum type="arabicPeriod"/>
              <a:tabLst>
                <a:tab pos="212536" algn="l"/>
                <a:tab pos="212536" algn="l"/>
                <a:tab pos="251502" algn="l"/>
              </a:tabLst>
            </a:pPr>
            <a:endParaRPr lang="en-US" sz="1673" dirty="0">
              <a:latin typeface="Times New Roman" panose="02020603050405020304"/>
              <a:ea typeface="Times New Roman" panose="02020603050405020304"/>
            </a:endParaRPr>
          </a:p>
        </p:txBody>
      </p:sp>
      <p:sp>
        <p:nvSpPr>
          <p:cNvPr id="67" name="Rectangle 66"/>
          <p:cNvSpPr/>
          <p:nvPr/>
        </p:nvSpPr>
        <p:spPr>
          <a:xfrm>
            <a:off x="7450459" y="24020310"/>
            <a:ext cx="3387081" cy="425009"/>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3012" b="1" dirty="0">
                <a:solidFill>
                  <a:schemeClr val="accent3">
                    <a:lumMod val="20000"/>
                    <a:lumOff val="80000"/>
                  </a:schemeClr>
                </a:solidFill>
              </a:rPr>
              <a:t>Team Members</a:t>
            </a:r>
          </a:p>
        </p:txBody>
      </p:sp>
      <p:sp>
        <p:nvSpPr>
          <p:cNvPr id="68" name="Rectangle 67"/>
          <p:cNvSpPr/>
          <p:nvPr/>
        </p:nvSpPr>
        <p:spPr>
          <a:xfrm>
            <a:off x="11247873" y="27076447"/>
            <a:ext cx="2975063"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Main References </a:t>
            </a:r>
          </a:p>
        </p:txBody>
      </p:sp>
      <p:sp>
        <p:nvSpPr>
          <p:cNvPr id="74" name="Rectangle 73"/>
          <p:cNvSpPr/>
          <p:nvPr/>
        </p:nvSpPr>
        <p:spPr>
          <a:xfrm>
            <a:off x="9413171" y="3629898"/>
            <a:ext cx="6630141"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Software Applications (Mobile APP)</a:t>
            </a:r>
          </a:p>
        </p:txBody>
      </p:sp>
      <p:sp>
        <p:nvSpPr>
          <p:cNvPr id="75" name="Rectangle 74"/>
          <p:cNvSpPr/>
          <p:nvPr/>
        </p:nvSpPr>
        <p:spPr>
          <a:xfrm>
            <a:off x="3638206" y="27076447"/>
            <a:ext cx="2975063"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Contact Us</a:t>
            </a:r>
          </a:p>
        </p:txBody>
      </p:sp>
      <p:sp>
        <p:nvSpPr>
          <p:cNvPr id="79" name="TextBox 78"/>
          <p:cNvSpPr txBox="1"/>
          <p:nvPr/>
        </p:nvSpPr>
        <p:spPr>
          <a:xfrm>
            <a:off x="1564675" y="27554754"/>
            <a:ext cx="7122126" cy="2840855"/>
          </a:xfrm>
          <a:prstGeom prst="rect">
            <a:avLst/>
          </a:prstGeom>
          <a:noFill/>
        </p:spPr>
        <p:txBody>
          <a:bodyPr wrap="square" tIns="51001" bIns="51001" numCol="1" spcCol="457200" rtlCol="0">
            <a:noAutofit/>
          </a:bodyPr>
          <a:lstStyle/>
          <a:p>
            <a:pPr marL="318805" indent="-318805" algn="just">
              <a:buFont typeface="+mj-lt"/>
              <a:buAutoNum type="arabicPeriod"/>
              <a:tabLst>
                <a:tab pos="212536" algn="l"/>
                <a:tab pos="212536" algn="l"/>
                <a:tab pos="251502" algn="l"/>
              </a:tabLst>
            </a:pPr>
            <a:r>
              <a:rPr lang="en-US" sz="1859" b="1" dirty="0">
                <a:latin typeface="Times New Roman" panose="02020603050405020304"/>
                <a:ea typeface="Times New Roman" panose="02020603050405020304"/>
              </a:rPr>
              <a:t>Supervisor : Dr. </a:t>
            </a:r>
            <a:r>
              <a:rPr lang="en-US" sz="1859" b="1" dirty="0" err="1">
                <a:latin typeface="Times New Roman" panose="02020603050405020304"/>
                <a:ea typeface="Times New Roman" panose="02020603050405020304"/>
              </a:rPr>
              <a:t>Moataz</a:t>
            </a:r>
            <a:r>
              <a:rPr lang="en-US" sz="1859" b="1" dirty="0">
                <a:latin typeface="Times New Roman" panose="02020603050405020304"/>
                <a:ea typeface="Times New Roman" panose="02020603050405020304"/>
              </a:rPr>
              <a:t> </a:t>
            </a:r>
            <a:r>
              <a:rPr lang="en-US" sz="1859" b="1" dirty="0" err="1">
                <a:latin typeface="Times New Roman" panose="02020603050405020304"/>
                <a:ea typeface="Times New Roman" panose="02020603050405020304"/>
              </a:rPr>
              <a:t>Elsherbini</a:t>
            </a:r>
            <a:endParaRPr lang="en-US" sz="1859" b="1" dirty="0">
              <a:latin typeface="Times New Roman" panose="02020603050405020304"/>
              <a:ea typeface="Times New Roman" panose="02020603050405020304"/>
            </a:endParaRPr>
          </a:p>
          <a:p>
            <a:pPr algn="ctr">
              <a:tabLst>
                <a:tab pos="212536" algn="l"/>
                <a:tab pos="212536" algn="l"/>
                <a:tab pos="251502" algn="l"/>
              </a:tabLst>
            </a:pPr>
            <a:r>
              <a:rPr lang="en-US" sz="1859" b="1" dirty="0">
                <a:latin typeface="Times New Roman" panose="02020603050405020304"/>
                <a:ea typeface="Times New Roman" panose="02020603050405020304"/>
                <a:hlinkClick r:id="rId4"/>
              </a:rPr>
              <a:t>moataz.elsherbiny@eng.bnu.edu.eg</a:t>
            </a:r>
            <a:r>
              <a:rPr lang="en-US" sz="1859" b="1" dirty="0">
                <a:latin typeface="Times New Roman" panose="02020603050405020304"/>
                <a:ea typeface="Times New Roman" panose="02020603050405020304"/>
              </a:rPr>
              <a:t> </a:t>
            </a:r>
          </a:p>
          <a:p>
            <a:pPr algn="ctr">
              <a:tabLst>
                <a:tab pos="212536" algn="l"/>
                <a:tab pos="212536" algn="l"/>
                <a:tab pos="251502" algn="l"/>
              </a:tabLst>
            </a:pPr>
            <a:r>
              <a:rPr lang="en-US" sz="1859" b="1" dirty="0">
                <a:latin typeface="Times New Roman" panose="02020603050405020304"/>
                <a:ea typeface="Times New Roman" panose="02020603050405020304"/>
              </a:rPr>
              <a:t>2. Hardware Design and Implementation: Saif </a:t>
            </a:r>
            <a:r>
              <a:rPr lang="en-US" sz="1859" b="1" dirty="0" err="1">
                <a:latin typeface="Times New Roman" panose="02020603050405020304"/>
                <a:ea typeface="Times New Roman" panose="02020603050405020304"/>
              </a:rPr>
              <a:t>Abdelhaleem</a:t>
            </a:r>
            <a:r>
              <a:rPr lang="en-US" sz="1859" b="1" dirty="0">
                <a:latin typeface="Times New Roman" panose="02020603050405020304"/>
                <a:ea typeface="Times New Roman" panose="02020603050405020304"/>
              </a:rPr>
              <a:t> , Motaz Mohamed</a:t>
            </a:r>
          </a:p>
          <a:p>
            <a:pPr algn="ctr">
              <a:tabLst>
                <a:tab pos="212536" algn="l"/>
                <a:tab pos="212536" algn="l"/>
                <a:tab pos="251502" algn="l"/>
              </a:tabLst>
            </a:pPr>
            <a:r>
              <a:rPr lang="en-US" sz="1859" b="1" dirty="0">
                <a:latin typeface="Times New Roman" panose="02020603050405020304"/>
                <a:ea typeface="Times New Roman" panose="02020603050405020304"/>
                <a:hlinkClick r:id="rId5"/>
              </a:rPr>
              <a:t>saifhalim2004@gmail.com</a:t>
            </a:r>
            <a:r>
              <a:rPr lang="en-US" sz="1859" b="1" dirty="0">
                <a:latin typeface="Times New Roman" panose="02020603050405020304"/>
                <a:ea typeface="Times New Roman" panose="02020603050405020304"/>
              </a:rPr>
              <a:t> , </a:t>
            </a:r>
            <a:r>
              <a:rPr lang="en-US" sz="1859" b="1" dirty="0">
                <a:latin typeface="Times New Roman" panose="02020603050405020304"/>
                <a:ea typeface="Times New Roman" panose="02020603050405020304"/>
                <a:hlinkClick r:id="rId6"/>
              </a:rPr>
              <a:t>motazfandies11@gmail.com</a:t>
            </a:r>
            <a:r>
              <a:rPr lang="en-US" sz="1859" b="1" dirty="0">
                <a:latin typeface="Times New Roman" panose="02020603050405020304"/>
                <a:ea typeface="Times New Roman" panose="02020603050405020304"/>
              </a:rPr>
              <a:t> </a:t>
            </a:r>
          </a:p>
          <a:p>
            <a:pPr algn="just">
              <a:tabLst>
                <a:tab pos="212536" algn="l"/>
                <a:tab pos="212536" algn="l"/>
                <a:tab pos="251502" algn="l"/>
              </a:tabLst>
            </a:pPr>
            <a:r>
              <a:rPr lang="en-US" sz="1859" b="1" dirty="0">
                <a:latin typeface="Times New Roman" panose="02020603050405020304"/>
                <a:ea typeface="Times New Roman" panose="02020603050405020304"/>
              </a:rPr>
              <a:t>3. APP and Cloud : Carol Maged , Loay Islam</a:t>
            </a:r>
          </a:p>
          <a:p>
            <a:pPr algn="ctr">
              <a:tabLst>
                <a:tab pos="212536" algn="l"/>
                <a:tab pos="212536" algn="l"/>
                <a:tab pos="251502" algn="l"/>
              </a:tabLst>
            </a:pPr>
            <a:r>
              <a:rPr lang="en-US" sz="1859" b="1" dirty="0">
                <a:latin typeface="Times New Roman" panose="02020603050405020304"/>
                <a:ea typeface="Times New Roman" panose="02020603050405020304"/>
              </a:rPr>
              <a:t> </a:t>
            </a:r>
            <a:r>
              <a:rPr lang="en-US" sz="1859" b="1" u="sng" dirty="0">
                <a:hlinkClick r:id="rId7"/>
              </a:rPr>
              <a:t>carolm.sawires@yahoo.com</a:t>
            </a:r>
            <a:r>
              <a:rPr lang="en-US" sz="1859" b="1" u="sng" dirty="0"/>
              <a:t> </a:t>
            </a:r>
            <a:r>
              <a:rPr lang="en-US" sz="1859" b="1" dirty="0">
                <a:latin typeface="Times New Roman" panose="02020603050405020304"/>
              </a:rPr>
              <a:t>, </a:t>
            </a:r>
            <a:r>
              <a:rPr lang="en-US" sz="1859" b="1" dirty="0">
                <a:latin typeface="Times New Roman" panose="02020603050405020304"/>
                <a:hlinkClick r:id="rId8"/>
              </a:rPr>
              <a:t>luay0100453@eng.bnu.edu.eg</a:t>
            </a:r>
            <a:r>
              <a:rPr lang="en-US" sz="1859" b="1" dirty="0">
                <a:latin typeface="Times New Roman" panose="02020603050405020304"/>
              </a:rPr>
              <a:t> </a:t>
            </a:r>
          </a:p>
          <a:p>
            <a:pPr>
              <a:tabLst>
                <a:tab pos="212536" algn="l"/>
                <a:tab pos="212536" algn="l"/>
                <a:tab pos="251502" algn="l"/>
              </a:tabLst>
            </a:pPr>
            <a:r>
              <a:rPr lang="en-US" sz="1859" b="1" dirty="0">
                <a:latin typeface="Times New Roman" panose="02020603050405020304"/>
                <a:ea typeface="Times New Roman" panose="02020603050405020304"/>
              </a:rPr>
              <a:t>4. AI and Chatbot: Malak </a:t>
            </a:r>
            <a:r>
              <a:rPr lang="en-US" sz="1859" b="1" dirty="0" err="1">
                <a:latin typeface="Times New Roman" panose="02020603050405020304"/>
                <a:ea typeface="Times New Roman" panose="02020603050405020304"/>
              </a:rPr>
              <a:t>Ikramy</a:t>
            </a:r>
            <a:r>
              <a:rPr lang="en-US" sz="1859" b="1" dirty="0">
                <a:latin typeface="Times New Roman" panose="02020603050405020304"/>
                <a:ea typeface="Times New Roman" panose="02020603050405020304"/>
              </a:rPr>
              <a:t> , Mai Gamal</a:t>
            </a:r>
          </a:p>
          <a:p>
            <a:pPr algn="ctr">
              <a:tabLst>
                <a:tab pos="212536" algn="l"/>
                <a:tab pos="212536" algn="l"/>
                <a:tab pos="251502" algn="l"/>
              </a:tabLst>
            </a:pPr>
            <a:r>
              <a:rPr lang="en-US" sz="1859" b="1" u="sng" dirty="0">
                <a:hlinkClick r:id="rId9"/>
              </a:rPr>
              <a:t>malakikramy983@gmail.com</a:t>
            </a:r>
            <a:r>
              <a:rPr lang="en-US" sz="1859" b="1" u="sng" dirty="0"/>
              <a:t> , </a:t>
            </a:r>
            <a:r>
              <a:rPr lang="en-US" sz="1859" b="1" u="sng" dirty="0">
                <a:hlinkClick r:id="rId10"/>
              </a:rPr>
              <a:t>Maigamalfouad@gmail.com</a:t>
            </a:r>
            <a:r>
              <a:rPr lang="en-US" sz="1859" b="1" u="sng" dirty="0"/>
              <a:t> </a:t>
            </a:r>
          </a:p>
        </p:txBody>
      </p:sp>
      <p:pic>
        <p:nvPicPr>
          <p:cNvPr id="62" name="Picture 61"/>
          <p:cNvPicPr/>
          <p:nvPr/>
        </p:nvPicPr>
        <p:blipFill>
          <a:blip r:embed="rId11" cstate="print">
            <a:extLst>
              <a:ext uri="{28A0092B-C50C-407E-A947-70E740481C1C}">
                <a14:useLocalDpi xmlns:a14="http://schemas.microsoft.com/office/drawing/2010/main" val="0"/>
              </a:ext>
            </a:extLst>
          </a:blip>
          <a:stretch>
            <a:fillRect/>
          </a:stretch>
        </p:blipFill>
        <p:spPr>
          <a:xfrm>
            <a:off x="13678394" y="586643"/>
            <a:ext cx="4089701" cy="1175070"/>
          </a:xfrm>
          <a:prstGeom prst="rect">
            <a:avLst/>
          </a:prstGeom>
        </p:spPr>
      </p:pic>
      <p:pic>
        <p:nvPicPr>
          <p:cNvPr id="29" name="Image 0" descr="preencoded.png">
            <a:extLst>
              <a:ext uri="{FF2B5EF4-FFF2-40B4-BE49-F238E27FC236}">
                <a16:creationId xmlns:a16="http://schemas.microsoft.com/office/drawing/2014/main" id="{9DE4C605-188F-FDBD-781E-142127AE70BE}"/>
              </a:ext>
            </a:extLst>
          </p:cNvPr>
          <p:cNvPicPr>
            <a:picLocks noChangeAspect="1"/>
          </p:cNvPicPr>
          <p:nvPr/>
        </p:nvPicPr>
        <p:blipFill>
          <a:blip r:embed="rId12"/>
          <a:srcRect r="9981" b="32739"/>
          <a:stretch>
            <a:fillRect/>
          </a:stretch>
        </p:blipFill>
        <p:spPr>
          <a:xfrm>
            <a:off x="2246238" y="17767454"/>
            <a:ext cx="6627813" cy="3271318"/>
          </a:xfrm>
          <a:prstGeom prst="rect">
            <a:avLst/>
          </a:prstGeom>
        </p:spPr>
      </p:pic>
      <p:grpSp>
        <p:nvGrpSpPr>
          <p:cNvPr id="61" name="Group 60">
            <a:extLst>
              <a:ext uri="{FF2B5EF4-FFF2-40B4-BE49-F238E27FC236}">
                <a16:creationId xmlns:a16="http://schemas.microsoft.com/office/drawing/2014/main" id="{4D7F32C6-6EFF-E3AF-8569-A6CE166306C1}"/>
              </a:ext>
            </a:extLst>
          </p:cNvPr>
          <p:cNvGrpSpPr/>
          <p:nvPr/>
        </p:nvGrpSpPr>
        <p:grpSpPr>
          <a:xfrm>
            <a:off x="2218045" y="21092070"/>
            <a:ext cx="6640766" cy="2815239"/>
            <a:chOff x="9403059" y="3630533"/>
            <a:chExt cx="6640766" cy="2815239"/>
          </a:xfrm>
        </p:grpSpPr>
        <p:sp>
          <p:nvSpPr>
            <p:cNvPr id="69" name="Rectangle 68"/>
            <p:cNvSpPr/>
            <p:nvPr/>
          </p:nvSpPr>
          <p:spPr>
            <a:xfrm>
              <a:off x="9403059" y="3630533"/>
              <a:ext cx="6640766" cy="425009"/>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12" b="1" dirty="0">
                  <a:solidFill>
                    <a:schemeClr val="accent3">
                      <a:lumMod val="20000"/>
                      <a:lumOff val="80000"/>
                    </a:schemeClr>
                  </a:solidFill>
                </a:rPr>
                <a:t>What It Measures</a:t>
              </a:r>
            </a:p>
          </p:txBody>
        </p:sp>
        <p:pic>
          <p:nvPicPr>
            <p:cNvPr id="48" name="Picture 47">
              <a:extLst>
                <a:ext uri="{FF2B5EF4-FFF2-40B4-BE49-F238E27FC236}">
                  <a16:creationId xmlns:a16="http://schemas.microsoft.com/office/drawing/2014/main" id="{D12BE507-9E50-F9FB-4096-2A24E4C281A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3172" y="4108840"/>
              <a:ext cx="6630141" cy="2336932"/>
            </a:xfrm>
            <a:prstGeom prst="rect">
              <a:avLst/>
            </a:prstGeom>
          </p:spPr>
        </p:pic>
      </p:grpSp>
      <p:pic>
        <p:nvPicPr>
          <p:cNvPr id="71" name="Picture 70">
            <a:extLst>
              <a:ext uri="{FF2B5EF4-FFF2-40B4-BE49-F238E27FC236}">
                <a16:creationId xmlns:a16="http://schemas.microsoft.com/office/drawing/2014/main" id="{425B96F6-45B0-1599-2077-6B5FE238F4C1}"/>
              </a:ext>
            </a:extLst>
          </p:cNvPr>
          <p:cNvPicPr>
            <a:picLocks noChangeAspect="1"/>
          </p:cNvPicPr>
          <p:nvPr/>
        </p:nvPicPr>
        <p:blipFill>
          <a:blip r:embed="rId14">
            <a:extLst>
              <a:ext uri="{28A0092B-C50C-407E-A947-70E740481C1C}">
                <a14:useLocalDpi xmlns:a14="http://schemas.microsoft.com/office/drawing/2010/main" val="0"/>
              </a:ext>
            </a:extLst>
          </a:blip>
          <a:srcRect t="20827" b="16353"/>
          <a:stretch>
            <a:fillRect/>
          </a:stretch>
        </p:blipFill>
        <p:spPr>
          <a:xfrm>
            <a:off x="9421632" y="4176789"/>
            <a:ext cx="3279636" cy="4579811"/>
          </a:xfrm>
          <a:prstGeom prst="rect">
            <a:avLst/>
          </a:prstGeom>
        </p:spPr>
      </p:pic>
      <p:pic>
        <p:nvPicPr>
          <p:cNvPr id="76" name="Picture 75">
            <a:extLst>
              <a:ext uri="{FF2B5EF4-FFF2-40B4-BE49-F238E27FC236}">
                <a16:creationId xmlns:a16="http://schemas.microsoft.com/office/drawing/2014/main" id="{423F40B8-BBE6-D43D-BBC9-649C5A1539F9}"/>
              </a:ext>
            </a:extLst>
          </p:cNvPr>
          <p:cNvPicPr>
            <a:picLocks noChangeAspect="1"/>
          </p:cNvPicPr>
          <p:nvPr/>
        </p:nvPicPr>
        <p:blipFill>
          <a:blip r:embed="rId15">
            <a:extLst>
              <a:ext uri="{28A0092B-C50C-407E-A947-70E740481C1C}">
                <a14:useLocalDpi xmlns:a14="http://schemas.microsoft.com/office/drawing/2010/main" val="0"/>
              </a:ext>
            </a:extLst>
          </a:blip>
          <a:srcRect t="5305" b="2769"/>
          <a:stretch>
            <a:fillRect/>
          </a:stretch>
        </p:blipFill>
        <p:spPr>
          <a:xfrm>
            <a:off x="12675191" y="4180480"/>
            <a:ext cx="3396741" cy="7081245"/>
          </a:xfrm>
          <a:prstGeom prst="rect">
            <a:avLst/>
          </a:prstGeom>
        </p:spPr>
      </p:pic>
      <p:pic>
        <p:nvPicPr>
          <p:cNvPr id="78" name="Picture 77">
            <a:extLst>
              <a:ext uri="{FF2B5EF4-FFF2-40B4-BE49-F238E27FC236}">
                <a16:creationId xmlns:a16="http://schemas.microsoft.com/office/drawing/2014/main" id="{07264ABA-739C-F963-3CA8-A14B73385066}"/>
              </a:ext>
            </a:extLst>
          </p:cNvPr>
          <p:cNvPicPr>
            <a:picLocks noChangeAspect="1"/>
          </p:cNvPicPr>
          <p:nvPr/>
        </p:nvPicPr>
        <p:blipFill>
          <a:blip r:embed="rId16">
            <a:extLst>
              <a:ext uri="{28A0092B-C50C-407E-A947-70E740481C1C}">
                <a14:useLocalDpi xmlns:a14="http://schemas.microsoft.com/office/drawing/2010/main" val="0"/>
              </a:ext>
            </a:extLst>
          </a:blip>
          <a:srcRect t="3298" b="63196"/>
          <a:stretch>
            <a:fillRect/>
          </a:stretch>
        </p:blipFill>
        <p:spPr>
          <a:xfrm>
            <a:off x="9421632" y="9105220"/>
            <a:ext cx="3253560" cy="2457523"/>
          </a:xfrm>
          <a:prstGeom prst="rect">
            <a:avLst/>
          </a:prstGeom>
        </p:spPr>
      </p:pic>
      <p:pic>
        <p:nvPicPr>
          <p:cNvPr id="3" name="Picture 2">
            <a:extLst>
              <a:ext uri="{FF2B5EF4-FFF2-40B4-BE49-F238E27FC236}">
                <a16:creationId xmlns:a16="http://schemas.microsoft.com/office/drawing/2014/main" id="{9EFC3513-1C8A-6BC7-3002-1A398E1E764D}"/>
              </a:ext>
            </a:extLst>
          </p:cNvPr>
          <p:cNvPicPr>
            <a:picLocks noChangeAspect="1"/>
          </p:cNvPicPr>
          <p:nvPr/>
        </p:nvPicPr>
        <p:blipFill>
          <a:blip r:embed="rId17">
            <a:extLst>
              <a:ext uri="{28A0092B-C50C-407E-A947-70E740481C1C}">
                <a14:useLocalDpi xmlns:a14="http://schemas.microsoft.com/office/drawing/2010/main" val="0"/>
              </a:ext>
            </a:extLst>
          </a:blip>
          <a:srcRect l="12574" t="62876" r="26315" b="17404"/>
          <a:stretch>
            <a:fillRect/>
          </a:stretch>
        </p:blipFill>
        <p:spPr>
          <a:xfrm>
            <a:off x="9413171" y="15168321"/>
            <a:ext cx="2891516" cy="2404245"/>
          </a:xfrm>
          <a:prstGeom prst="rect">
            <a:avLst/>
          </a:prstGeom>
        </p:spPr>
      </p:pic>
      <p:pic>
        <p:nvPicPr>
          <p:cNvPr id="7" name="Picture 6">
            <a:extLst>
              <a:ext uri="{FF2B5EF4-FFF2-40B4-BE49-F238E27FC236}">
                <a16:creationId xmlns:a16="http://schemas.microsoft.com/office/drawing/2014/main" id="{4538AE0E-2AFF-9D19-5DB0-7CF5740D9CB8}"/>
              </a:ext>
            </a:extLst>
          </p:cNvPr>
          <p:cNvPicPr>
            <a:picLocks noChangeAspect="1"/>
          </p:cNvPicPr>
          <p:nvPr/>
        </p:nvPicPr>
        <p:blipFill>
          <a:blip r:embed="rId18">
            <a:extLst>
              <a:ext uri="{28A0092B-C50C-407E-A947-70E740481C1C}">
                <a14:useLocalDpi xmlns:a14="http://schemas.microsoft.com/office/drawing/2010/main" val="0"/>
              </a:ext>
            </a:extLst>
          </a:blip>
          <a:srcRect l="15990" t="32864" r="20671" b="-2030"/>
          <a:stretch>
            <a:fillRect/>
          </a:stretch>
        </p:blipFill>
        <p:spPr>
          <a:xfrm>
            <a:off x="12344376" y="15097481"/>
            <a:ext cx="3727556" cy="3052929"/>
          </a:xfrm>
          <a:prstGeom prst="rect">
            <a:avLst/>
          </a:prstGeom>
        </p:spPr>
      </p:pic>
      <p:sp>
        <p:nvSpPr>
          <p:cNvPr id="9" name="TextBox 8">
            <a:extLst>
              <a:ext uri="{FF2B5EF4-FFF2-40B4-BE49-F238E27FC236}">
                <a16:creationId xmlns:a16="http://schemas.microsoft.com/office/drawing/2014/main" id="{0E9AF1D2-D775-2629-7E9B-76E115D22336}"/>
              </a:ext>
            </a:extLst>
          </p:cNvPr>
          <p:cNvSpPr txBox="1"/>
          <p:nvPr/>
        </p:nvSpPr>
        <p:spPr>
          <a:xfrm>
            <a:off x="4276057" y="20607267"/>
            <a:ext cx="2524742" cy="369332"/>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1. </a:t>
            </a:r>
            <a:r>
              <a:rPr lang="en-US" sz="1800" dirty="0">
                <a:solidFill>
                  <a:srgbClr val="111111"/>
                </a:solidFill>
                <a:ea typeface="Arial" pitchFamily="34" charset="-122"/>
                <a:cs typeface="Arial" pitchFamily="34" charset="-120"/>
              </a:rPr>
              <a:t>Block Diagram</a:t>
            </a:r>
            <a:endParaRPr lang="en-US" dirty="0"/>
          </a:p>
        </p:txBody>
      </p:sp>
      <p:sp>
        <p:nvSpPr>
          <p:cNvPr id="19" name="TextBox 18">
            <a:extLst>
              <a:ext uri="{FF2B5EF4-FFF2-40B4-BE49-F238E27FC236}">
                <a16:creationId xmlns:a16="http://schemas.microsoft.com/office/drawing/2014/main" id="{92F97AA5-A67A-CEEA-84CF-E323827AA0E6}"/>
              </a:ext>
            </a:extLst>
          </p:cNvPr>
          <p:cNvSpPr txBox="1"/>
          <p:nvPr/>
        </p:nvSpPr>
        <p:spPr>
          <a:xfrm>
            <a:off x="9839249" y="8747207"/>
            <a:ext cx="2387460" cy="368451"/>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2. </a:t>
            </a:r>
            <a:r>
              <a:rPr lang="en-US" dirty="0">
                <a:solidFill>
                  <a:srgbClr val="111111"/>
                </a:solidFill>
                <a:ea typeface="Arial" pitchFamily="34" charset="-122"/>
                <a:cs typeface="Arial" pitchFamily="34" charset="-120"/>
              </a:rPr>
              <a:t>APP Interface</a:t>
            </a:r>
            <a:endParaRPr lang="en-US" dirty="0"/>
          </a:p>
        </p:txBody>
      </p:sp>
      <p:sp>
        <p:nvSpPr>
          <p:cNvPr id="21" name="TextBox 20">
            <a:extLst>
              <a:ext uri="{FF2B5EF4-FFF2-40B4-BE49-F238E27FC236}">
                <a16:creationId xmlns:a16="http://schemas.microsoft.com/office/drawing/2014/main" id="{61118F20-DC3E-254A-3F3E-794336398A91}"/>
              </a:ext>
            </a:extLst>
          </p:cNvPr>
          <p:cNvSpPr txBox="1"/>
          <p:nvPr/>
        </p:nvSpPr>
        <p:spPr>
          <a:xfrm>
            <a:off x="13181067" y="11207214"/>
            <a:ext cx="2592333" cy="369332"/>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a:t>
            </a:r>
            <a:r>
              <a:rPr lang="en-US" b="1" dirty="0">
                <a:solidFill>
                  <a:srgbClr val="111111"/>
                </a:solidFill>
                <a:ea typeface="Arial" pitchFamily="34" charset="-122"/>
                <a:cs typeface="Arial" pitchFamily="34" charset="-120"/>
              </a:rPr>
              <a:t>4</a:t>
            </a:r>
            <a:r>
              <a:rPr lang="en-US" sz="1800" b="1" dirty="0">
                <a:solidFill>
                  <a:srgbClr val="111111"/>
                </a:solidFill>
                <a:ea typeface="Arial" pitchFamily="34" charset="-122"/>
                <a:cs typeface="Arial" pitchFamily="34" charset="-120"/>
              </a:rPr>
              <a:t>. </a:t>
            </a:r>
            <a:r>
              <a:rPr lang="en-US" dirty="0">
                <a:solidFill>
                  <a:srgbClr val="111111"/>
                </a:solidFill>
                <a:ea typeface="Arial" pitchFamily="34" charset="-122"/>
                <a:cs typeface="Arial" pitchFamily="34" charset="-120"/>
              </a:rPr>
              <a:t>Vitals measures</a:t>
            </a:r>
            <a:endParaRPr lang="en-US" dirty="0"/>
          </a:p>
        </p:txBody>
      </p:sp>
      <p:sp>
        <p:nvSpPr>
          <p:cNvPr id="23" name="TextBox 22">
            <a:extLst>
              <a:ext uri="{FF2B5EF4-FFF2-40B4-BE49-F238E27FC236}">
                <a16:creationId xmlns:a16="http://schemas.microsoft.com/office/drawing/2014/main" id="{50FACE07-F9DB-50AE-3C09-0F61DC82EE5B}"/>
              </a:ext>
            </a:extLst>
          </p:cNvPr>
          <p:cNvSpPr txBox="1"/>
          <p:nvPr/>
        </p:nvSpPr>
        <p:spPr>
          <a:xfrm>
            <a:off x="9789599" y="11259831"/>
            <a:ext cx="2776425" cy="369332"/>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5. </a:t>
            </a:r>
            <a:r>
              <a:rPr lang="en-US" sz="1800" dirty="0">
                <a:solidFill>
                  <a:srgbClr val="111111"/>
                </a:solidFill>
                <a:ea typeface="Arial" pitchFamily="34" charset="-122"/>
                <a:cs typeface="Arial" pitchFamily="34" charset="-120"/>
              </a:rPr>
              <a:t>Doctor’s app view</a:t>
            </a:r>
            <a:endParaRPr lang="en-US" dirty="0"/>
          </a:p>
        </p:txBody>
      </p:sp>
      <p:sp>
        <p:nvSpPr>
          <p:cNvPr id="26" name="TextBox 25">
            <a:extLst>
              <a:ext uri="{FF2B5EF4-FFF2-40B4-BE49-F238E27FC236}">
                <a16:creationId xmlns:a16="http://schemas.microsoft.com/office/drawing/2014/main" id="{177A7006-CC34-CF58-DE47-E78E13C7859A}"/>
              </a:ext>
            </a:extLst>
          </p:cNvPr>
          <p:cNvSpPr txBox="1"/>
          <p:nvPr/>
        </p:nvSpPr>
        <p:spPr>
          <a:xfrm>
            <a:off x="9665946" y="17599548"/>
            <a:ext cx="2385965" cy="368644"/>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6. </a:t>
            </a:r>
            <a:r>
              <a:rPr lang="en-US" dirty="0">
                <a:solidFill>
                  <a:srgbClr val="111111"/>
                </a:solidFill>
                <a:ea typeface="Arial" pitchFamily="34" charset="-122"/>
                <a:cs typeface="Arial" pitchFamily="34" charset="-120"/>
              </a:rPr>
              <a:t>T</a:t>
            </a:r>
            <a:r>
              <a:rPr lang="en-US" sz="1800" dirty="0">
                <a:solidFill>
                  <a:srgbClr val="111111"/>
                </a:solidFill>
                <a:ea typeface="Arial" pitchFamily="34" charset="-122"/>
                <a:cs typeface="Arial" pitchFamily="34" charset="-120"/>
              </a:rPr>
              <a:t>esting </a:t>
            </a:r>
            <a:r>
              <a:rPr lang="en-US" dirty="0">
                <a:solidFill>
                  <a:srgbClr val="111111"/>
                </a:solidFill>
                <a:ea typeface="Arial" pitchFamily="34" charset="-122"/>
                <a:cs typeface="Arial" pitchFamily="34" charset="-120"/>
              </a:rPr>
              <a:t>P</a:t>
            </a:r>
            <a:r>
              <a:rPr lang="en-US" sz="1800" dirty="0">
                <a:solidFill>
                  <a:srgbClr val="111111"/>
                </a:solidFill>
                <a:ea typeface="Arial" pitchFamily="34" charset="-122"/>
                <a:cs typeface="Arial" pitchFamily="34" charset="-120"/>
              </a:rPr>
              <a:t>hase</a:t>
            </a:r>
            <a:endParaRPr lang="en-US" dirty="0"/>
          </a:p>
        </p:txBody>
      </p:sp>
      <p:sp>
        <p:nvSpPr>
          <p:cNvPr id="30" name="TextBox 29">
            <a:extLst>
              <a:ext uri="{FF2B5EF4-FFF2-40B4-BE49-F238E27FC236}">
                <a16:creationId xmlns:a16="http://schemas.microsoft.com/office/drawing/2014/main" id="{40A9A7D3-BC33-215D-0295-BF0DB8AE61F1}"/>
              </a:ext>
            </a:extLst>
          </p:cNvPr>
          <p:cNvSpPr txBox="1"/>
          <p:nvPr/>
        </p:nvSpPr>
        <p:spPr>
          <a:xfrm>
            <a:off x="13317835" y="18036379"/>
            <a:ext cx="2318795" cy="368644"/>
          </a:xfrm>
          <a:prstGeom prst="rect">
            <a:avLst/>
          </a:prstGeom>
          <a:noFill/>
        </p:spPr>
        <p:txBody>
          <a:bodyPr wrap="square">
            <a:spAutoFit/>
          </a:bodyPr>
          <a:lstStyle/>
          <a:p>
            <a:r>
              <a:rPr lang="en-US" sz="1800" b="1" dirty="0">
                <a:solidFill>
                  <a:srgbClr val="111111"/>
                </a:solidFill>
                <a:ea typeface="Arial" pitchFamily="34" charset="-122"/>
                <a:cs typeface="Arial" pitchFamily="34" charset="-120"/>
              </a:rPr>
              <a:t>Figure 7. </a:t>
            </a:r>
            <a:r>
              <a:rPr lang="en-US" sz="1800" dirty="0">
                <a:solidFill>
                  <a:srgbClr val="111111"/>
                </a:solidFill>
                <a:ea typeface="Arial" pitchFamily="34" charset="-122"/>
                <a:cs typeface="Arial" pitchFamily="34" charset="-120"/>
              </a:rPr>
              <a:t>Results</a:t>
            </a:r>
            <a:endParaRPr lang="en-US" dirty="0"/>
          </a:p>
        </p:txBody>
      </p:sp>
      <p:pic>
        <p:nvPicPr>
          <p:cNvPr id="39" name="Picture 38">
            <a:extLst>
              <a:ext uri="{FF2B5EF4-FFF2-40B4-BE49-F238E27FC236}">
                <a16:creationId xmlns:a16="http://schemas.microsoft.com/office/drawing/2014/main" id="{3CDB8381-38DB-F37D-08E2-94BD82BDC83A}"/>
              </a:ext>
            </a:extLst>
          </p:cNvPr>
          <p:cNvPicPr>
            <a:picLocks noChangeAspect="1"/>
          </p:cNvPicPr>
          <p:nvPr/>
        </p:nvPicPr>
        <p:blipFill>
          <a:blip r:embed="rId19">
            <a:extLst>
              <a:ext uri="{28A0092B-C50C-407E-A947-70E740481C1C}">
                <a14:useLocalDpi xmlns:a14="http://schemas.microsoft.com/office/drawing/2010/main" val="0"/>
              </a:ext>
            </a:extLst>
          </a:blip>
          <a:srcRect l="7407" r="3704"/>
          <a:stretch>
            <a:fillRect/>
          </a:stretch>
        </p:blipFill>
        <p:spPr>
          <a:xfrm>
            <a:off x="6400799" y="24494887"/>
            <a:ext cx="5486400" cy="2505075"/>
          </a:xfrm>
          <a:prstGeom prst="rect">
            <a:avLst/>
          </a:prstGeom>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320</TotalTime>
  <Words>952</Words>
  <Application>Microsoft Office PowerPoint</Application>
  <PresentationFormat>Custom</PresentationFormat>
  <Paragraphs>52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2013 - 2022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48x36</dc:title>
  <dc:creator>Jay Larson</dc:creator>
  <dc:description>Quality poster printing_x000d__x000d_
www.genigraphics.com_x000d__x000d_
1-800-790-4001</dc:description>
  <cp:lastModifiedBy>carol maged</cp:lastModifiedBy>
  <cp:revision>178</cp:revision>
  <cp:lastPrinted>2013-02-12T02:21:00Z</cp:lastPrinted>
  <dcterms:created xsi:type="dcterms:W3CDTF">2013-02-10T21:14:00Z</dcterms:created>
  <dcterms:modified xsi:type="dcterms:W3CDTF">2026-06-14T21:14:48Z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B2B09A85CC09478D8F7FDA7E602E27E3</vt:lpwstr>
  </property>
  <property fmtid="{D5CDD505-2E9C-101B-9397-08002B2CF9AE}" pid="3" name="KSOProductBuildVer">
    <vt:lpwstr>1033-11.2.0.11156</vt:lpwstr>
  </property>
</Properties>
</file>